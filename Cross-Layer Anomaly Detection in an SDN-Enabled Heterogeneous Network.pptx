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  <p:sldMasterId id="2147483703" r:id="rId5"/>
    <p:sldMasterId id="2147483674" r:id="rId6"/>
    <p:sldMasterId id="2147483687" r:id="rId7"/>
  </p:sldMasterIdLst>
  <p:notesMasterIdLst>
    <p:notesMasterId r:id="rId18"/>
  </p:notesMasterIdLst>
  <p:sldIdLst>
    <p:sldId id="2147483056" r:id="rId8"/>
    <p:sldId id="2147483078" r:id="rId9"/>
    <p:sldId id="2147483099" r:id="rId10"/>
    <p:sldId id="2147483091" r:id="rId11"/>
    <p:sldId id="2147483087" r:id="rId12"/>
    <p:sldId id="2147483088" r:id="rId13"/>
    <p:sldId id="2147483092" r:id="rId14"/>
    <p:sldId id="2147483097" r:id="rId15"/>
    <p:sldId id="2147483098" r:id="rId16"/>
    <p:sldId id="2147483076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50618-2C89-23BD-10C8-2BF1562231BF}" name="Mridula Narang" initials="MN" userId="S::1062888@tcs.com::060afb1b-3ad6-414e-b1f8-8000f2fe14bc" providerId="AD"/>
  <p188:author id="{83C4EA34-5549-B226-425C-2481FE9F0B7F}" name="Mridula Narang" initials="MN" userId="S::1062888@TCS.com::060afb1b-3ad6-414e-b1f8-8000f2fe14bc" providerId="AD"/>
  <p188:author id="{FBFD174F-137B-1D1D-508A-907C02ED15B6}" name="Kapil Krishnan" initials="KK" userId="S::571206@TCS.com::f34fbc68-f4bd-41fd-a210-a6e9abee1cae" providerId="AD"/>
  <p188:author id="{553BB4AA-C33A-9AD6-C3B4-B772B8E8C49C}" name="Manasi Phadnis" initials="MP" userId="S::3209455@tcs.com::a7a52a20-4a4a-47e3-b375-de672274ce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B0C4"/>
    <a:srgbClr val="8A99AB"/>
    <a:srgbClr val="FBB034"/>
    <a:srgbClr val="E06D1E"/>
    <a:srgbClr val="131313"/>
    <a:srgbClr val="76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9-28T08:12:25.476"/>
    <p1510:client id="{1C130258-9A7D-4B5A-930F-EFA26063694D}" v="1162" dt="2026-09-28T08:34:49.758"/>
    <p1510:client id="{4E29530D-3211-F3D1-683D-B9B83A5C163C}" v="5" dt="2026-09-27T09:06:36.050"/>
    <p1510:client id="{512DE317-BE07-408C-9CB9-1C8DE0803DE0}" v="1790" dt="2026-09-28T06:55:13.564"/>
    <p1510:client id="{6D2CF909-6488-48B8-82FB-2F3E17675D5B}" v="54" dt="2026-09-28T08:33:02.110"/>
    <p1510:client id="{6D82B03A-16E3-C306-0126-E3383D82A65D}" v="265" dt="2026-09-28T05:52:53.291"/>
    <p1510:client id="{E2F1E8AB-7701-D598-93DB-3E88A23E41DD}" v="104" dt="2026-09-27T13:08:49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324" y="-1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8BA4C-FDA6-499E-B919-6B2B6145026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3243D-C519-40A3-BFB6-2910491B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7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243D-C519-40A3-BFB6-2910491BE9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00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D8D229-C7B4-D455-F676-4DEC87A6C4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EDB942-262C-DAC0-7688-C6BDA7C8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89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62353-E2D0-4C7B-A21E-38012F9A3F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0BE3E-32D7-C51D-6338-9CB84C49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488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3AD627-0C96-BD49-6A42-DB64ACC7B8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453430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12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D8D229-C7B4-D455-F676-4DEC87A6C4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EDB942-262C-DAC0-7688-C6BDA7C8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4235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62353-E2D0-4C7B-A21E-38012F9A3F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0BE3E-32D7-C51D-6338-9CB84C49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673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3AD627-0C96-BD49-6A42-DB64ACC7B8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5654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6B087-8907-D4A7-EE59-93FC670966AA}"/>
              </a:ext>
            </a:extLst>
          </p:cNvPr>
          <p:cNvSpPr/>
          <p:nvPr userDrawn="1"/>
        </p:nvSpPr>
        <p:spPr>
          <a:xfrm>
            <a:off x="71120" y="4552950"/>
            <a:ext cx="9011920" cy="5905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46800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6B087-8907-D4A7-EE59-93FC670966AA}"/>
              </a:ext>
            </a:extLst>
          </p:cNvPr>
          <p:cNvSpPr/>
          <p:nvPr userDrawn="1"/>
        </p:nvSpPr>
        <p:spPr>
          <a:xfrm>
            <a:off x="71120" y="4552950"/>
            <a:ext cx="9011920" cy="5905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0FBAEB-75C4-77BD-5419-E7D8A7DC543A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0F2822A-7792-6C71-160E-639378D1E428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4" name="Graphic 8">
                <a:extLst>
                  <a:ext uri="{FF2B5EF4-FFF2-40B4-BE49-F238E27FC236}">
                    <a16:creationId xmlns:a16="http://schemas.microsoft.com/office/drawing/2014/main" id="{F8FA334C-9E71-ADC2-FFA7-01D033768DD4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0AAED6D-7CBD-B068-B046-B3DD7A21A751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16EB74A-00CD-695B-AEA0-1443B3E2DF57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aphic 8">
                <a:extLst>
                  <a:ext uri="{FF2B5EF4-FFF2-40B4-BE49-F238E27FC236}">
                    <a16:creationId xmlns:a16="http://schemas.microsoft.com/office/drawing/2014/main" id="{410C9176-1AD8-A2AB-D3BF-9189FF20E84E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41F8B051-FE45-69D2-C62E-32980CF6BC11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2E23AF5-F773-906A-C89F-19573600B6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CC62FB20-34BC-78E0-E4F4-9DA6E0CFC9D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2570EE2D-3A65-6188-D791-704FFE3FF4CF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3977CD8-391E-C32D-88DC-2CFC84975ACF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FD5E44D3-F129-246C-641E-F1C80841F74A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ECB8457-E4CC-C9D4-27F0-43E0E48A91C7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2ABB3DA-58BF-5A91-2566-E3D5291B7E0E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227D585-A59A-9518-BB2C-801E62E90E35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C72FD284-387C-5288-2174-7C14634B5B5A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A5653B7-E6CD-B8D7-1EAB-93B4412293F2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D5378740-B4A6-8B2D-F2A2-E356CCC6F9FC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D497C07-9715-8560-CBE5-961E9887ACA6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B6E7AB9-FEB9-581F-1BF9-0387E6723649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872FC62B-E036-B606-96DD-60BD3CC20553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DEA767F3-C1A8-68DB-D889-E907086EA6BB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047D4F2A-9490-5517-5E86-AA94D5497A6F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F2D6FFEA-F2A8-737A-112A-7609A9A57043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C703AE0-71E3-9D45-4510-03B5A98783C5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675ADADE-CC17-8546-2462-848F91E60DCD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B5CA8A9-8D1C-6DC4-A8BB-D25C19E6CAC3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70D9E64A-FE1C-F590-F821-734466A76A30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C6D082C-3140-3A39-CC41-9FE71FFFB60D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A3DF53A1-73C1-0D43-22FA-A3EA05CE0A86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B758C9B-3E5E-1985-2E73-72DF3C7B1E1C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B647EDF-3207-2E63-F2FE-8D715A119C50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854DFCB-9AC5-CE9B-3A4A-A566A428D66E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E69A03F-E307-77C2-CEA7-01B897EC886E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F4399F9-A76E-4086-9675-07EEB39138B2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DE89D94-7935-B81B-A689-AB992D758F94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CB17D0-8395-9A47-EB9E-4330F2B4E946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42" name="Graphic 41">
            <a:extLst>
              <a:ext uri="{FF2B5EF4-FFF2-40B4-BE49-F238E27FC236}">
                <a16:creationId xmlns:a16="http://schemas.microsoft.com/office/drawing/2014/main" id="{B5257D10-7A7F-6F94-753B-D3E859A600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5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gradFill>
          <a:gsLst>
            <a:gs pos="0">
              <a:srgbClr val="000000"/>
            </a:gs>
            <a:gs pos="100000">
              <a:schemeClr val="tx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B6B087-8907-D4A7-EE59-93FC670966AA}"/>
              </a:ext>
            </a:extLst>
          </p:cNvPr>
          <p:cNvSpPr/>
          <p:nvPr userDrawn="1"/>
        </p:nvSpPr>
        <p:spPr>
          <a:xfrm>
            <a:off x="71120" y="4552950"/>
            <a:ext cx="9011920" cy="5905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CB13AC-B28F-2DD7-259A-C664A85DBB1A}"/>
              </a:ext>
            </a:extLst>
          </p:cNvPr>
          <p:cNvSpPr/>
          <p:nvPr userDrawn="1"/>
        </p:nvSpPr>
        <p:spPr>
          <a:xfrm>
            <a:off x="0" y="-11430"/>
            <a:ext cx="9144000" cy="5166360"/>
          </a:xfrm>
          <a:prstGeom prst="rect">
            <a:avLst/>
          </a:prstGeom>
          <a:gradFill flip="none" rotWithShape="1">
            <a:gsLst>
              <a:gs pos="0">
                <a:srgbClr val="4E84C4"/>
              </a:gs>
              <a:gs pos="95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0FBAEB-75C4-77BD-5419-E7D8A7DC543A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0F2822A-7792-6C71-160E-639378D1E428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4" name="Graphic 8">
                <a:extLst>
                  <a:ext uri="{FF2B5EF4-FFF2-40B4-BE49-F238E27FC236}">
                    <a16:creationId xmlns:a16="http://schemas.microsoft.com/office/drawing/2014/main" id="{F8FA334C-9E71-ADC2-FFA7-01D033768DD4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0AAED6D-7CBD-B068-B046-B3DD7A21A751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16EB74A-00CD-695B-AEA0-1443B3E2DF57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aphic 8">
                <a:extLst>
                  <a:ext uri="{FF2B5EF4-FFF2-40B4-BE49-F238E27FC236}">
                    <a16:creationId xmlns:a16="http://schemas.microsoft.com/office/drawing/2014/main" id="{410C9176-1AD8-A2AB-D3BF-9189FF20E84E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41F8B051-FE45-69D2-C62E-32980CF6BC11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2E23AF5-F773-906A-C89F-19573600B6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CC62FB20-34BC-78E0-E4F4-9DA6E0CFC9D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2570EE2D-3A65-6188-D791-704FFE3FF4CF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3977CD8-391E-C32D-88DC-2CFC84975ACF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FD5E44D3-F129-246C-641E-F1C80841F74A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ECB8457-E4CC-C9D4-27F0-43E0E48A91C7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2ABB3DA-58BF-5A91-2566-E3D5291B7E0E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227D585-A59A-9518-BB2C-801E62E90E35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C72FD284-387C-5288-2174-7C14634B5B5A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A5653B7-E6CD-B8D7-1EAB-93B4412293F2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D5378740-B4A6-8B2D-F2A2-E356CCC6F9FC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D497C07-9715-8560-CBE5-961E9887ACA6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B6E7AB9-FEB9-581F-1BF9-0387E6723649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872FC62B-E036-B606-96DD-60BD3CC20553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DEA767F3-C1A8-68DB-D889-E907086EA6BB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047D4F2A-9490-5517-5E86-AA94D5497A6F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F2D6FFEA-F2A8-737A-112A-7609A9A57043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C703AE0-71E3-9D45-4510-03B5A98783C5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675ADADE-CC17-8546-2462-848F91E60DCD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B5CA8A9-8D1C-6DC4-A8BB-D25C19E6CAC3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70D9E64A-FE1C-F590-F821-734466A76A30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C6D082C-3140-3A39-CC41-9FE71FFFB60D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A3DF53A1-73C1-0D43-22FA-A3EA05CE0A86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B758C9B-3E5E-1985-2E73-72DF3C7B1E1C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B647EDF-3207-2E63-F2FE-8D715A119C50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854DFCB-9AC5-CE9B-3A4A-A566A428D66E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E69A03F-E307-77C2-CEA7-01B897EC886E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F4399F9-A76E-4086-9675-07EEB39138B2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DE89D94-7935-B81B-A689-AB992D758F94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CB17D0-8395-9A47-EB9E-4330F2B4E946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A30F9311-EBB8-A343-9086-8BA6FFD727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4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le Slide_Black with full wave_Opt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C1E-9D56-3F0B-29DD-309F9B71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711BE-BDB7-5335-742C-157DC12725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9490"/>
            <a:ext cx="4042988" cy="355867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8E4E07D-997E-B568-6AE6-895B7AC5ED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4C9F2B-AA1E-F0DB-19C2-313D3586118D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ECF215-ED7A-F63D-13B9-A404221E54B4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22" name="Graphic 8">
                <a:extLst>
                  <a:ext uri="{FF2B5EF4-FFF2-40B4-BE49-F238E27FC236}">
                    <a16:creationId xmlns:a16="http://schemas.microsoft.com/office/drawing/2014/main" id="{F62B31B7-41B5-ED61-8DD5-78686BC0002B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2CB83C32-8B19-0E48-F544-79AE8AE6DE51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35ED9827-E636-39A7-1838-D5C73003F00D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3" name="Graphic 8">
                <a:extLst>
                  <a:ext uri="{FF2B5EF4-FFF2-40B4-BE49-F238E27FC236}">
                    <a16:creationId xmlns:a16="http://schemas.microsoft.com/office/drawing/2014/main" id="{F3EC113F-91C5-117E-63E1-55362567E3DA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6764517-382E-B465-ED24-A6A9AE451002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B138D5EC-BE85-10E8-0700-B19654F9D5BF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05CAE345-476E-EF66-7F21-2462D7A45BC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28C4B26-03FB-94EF-19AD-309B234B24F5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7065AF1-D9F8-9DEC-89E2-88A08F330285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AE1ECE7-91F8-06E1-09E3-5D0119B5715D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D59121FD-8AAC-E938-EFC4-8069594472D5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372A9217-B8E4-88CB-DF21-E7D73AFD0EBE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50F9B27A-634E-1321-2688-F2363058D6D9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54FB249-EFCA-46C0-C911-A91FC3FF25C6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3D7AFA8-DE20-5630-3BB0-10B093A6CB34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A136ECE-8EE2-E0E0-CAB8-2D196A530503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18431D4-9B1D-B719-BD9E-0B669744A42E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75C3961-85A8-A367-CB00-7D3C37F0A0C0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5A64C4C-D98A-20E4-264D-0D6A6FB174A1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4AB68A03-652E-1163-21A3-759F36C8553E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EB9CC3F-EDBE-96BC-2605-5DAD7A118F64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C7689AB8-90EA-6AFD-EEE7-DC6F0416541E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ABFD5E45-9BAD-F25B-89BF-263F193E406C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004F9822-5EE8-BB07-1953-BC4538B08F4A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6C90182-0BA3-6457-6688-E97E2B59B264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B972E437-0CE1-4851-C873-C183DAF6D403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2B1C1646-A7D5-36A1-3422-071D3E30AEE0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4" name="Graphic 8">
              <a:extLst>
                <a:ext uri="{FF2B5EF4-FFF2-40B4-BE49-F238E27FC236}">
                  <a16:creationId xmlns:a16="http://schemas.microsoft.com/office/drawing/2014/main" id="{75FCD651-863C-D4C6-9818-6D2091BA62EB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D487052-05DA-F01B-887A-C6F430EE240E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B3118AB-65F5-21EC-3463-6D7B17E7A290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7F9B534-8E46-FFF9-00F3-C5FB052F3DEB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08026BF-F7AC-43CE-A511-6E488BEDE114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D8C07E7-7320-CC4C-3F35-C717D722F6A1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907FFF2-49FA-293D-5ED7-337F050FD2FB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4885E1D-0765-D3A9-23F2-90E0FA0BFE12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6632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ith Medium w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C1E-9D56-3F0B-29DD-309F9B71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711BE-BDB7-5335-742C-157DC12725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9490"/>
            <a:ext cx="4042988" cy="355867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A9AFE34-A521-02E5-C3FD-3A06F355D4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0BC0AA-1C00-53EA-F674-76069458B38F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tx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38B36A-EDA8-48AE-4DF9-D6F4DF998A1C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B21428D9-7936-C319-911C-E744C6EA2FC7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EC37624-5B5C-D1D9-3E9C-8F33ADE729CE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7C39D41-711D-AA9B-DE60-414E6BE2CD45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ABE1F10C-97F1-66C9-4270-8365A934E4A1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B6592BA9-29CC-BF5B-B651-E2CCE6B95AD2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3F8E3F0-6E5F-88D6-DBEB-2031E235BE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0E43E72-11FC-E85B-0ECE-E4F5DB48317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61C5303-80CC-79C7-9D5D-F413490EAFFC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A1CCE335-BE9B-C2DB-04D1-A9CDB7D22E11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D163E49-74C3-3135-4C49-25ADF887EFE6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84620B5-7439-9E11-0F3C-D38EF0B85259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4DAAC7A-B43C-46E5-6860-3790382C5837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3B9A379-7EA4-B272-3051-086C1705C02D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2A173BD-B35F-F550-434E-A21A928F8238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44C8347-BB78-5DD5-537A-B4C6D847A549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BCDB9967-7651-FD33-40ED-5B17BCC9256E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1B1D7FF-D2A0-B5CF-4D2D-F9D9E471DE84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FD47FD3-8C41-AB29-4014-B2CF56A5F8AC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181DEC8-92DE-0E8D-18A5-D0C37057E3FB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25F5A4C-C1E9-F793-B211-C75B1785DDE8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7E86D8-3A6A-6986-BD21-6675587F06FB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EE2389B6-3FC7-B6A4-A70B-6E8C5195C1F1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E8305D0C-D65E-A011-D438-8031F0150AA6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9F9E58C-3C1A-3AA4-F7A7-BD5F44A4DA1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23EFE9CA-11E3-EADA-441F-24B2B6E38AEF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02EADE3-B10D-BE63-D2EB-D7E810DC357C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D1D7AF11-ABA2-8706-4F81-AA276C80656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4FF046B-9556-054B-BA86-D7F768A06322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DE61E86-8661-D2D4-5FEC-59588A6BEB9B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1E68537-AABB-D39B-9699-34F3CFEFEDCF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CB54FBB-A35D-AE5D-AC63-F6D6A51808E8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7376F5F-70C3-3289-6902-5EF85DC967A7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19B01-8152-11FA-B64D-F94A3D5E8BE8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DDF2D3D-B16A-0AA4-382C-F3DEE2B9D1F1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39725B3-21C7-8D04-5B63-51FA8A69FD17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487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with Medium wave">
    <p:bg>
      <p:bgPr>
        <a:gradFill flip="none" rotWithShape="1">
          <a:gsLst>
            <a:gs pos="35000">
              <a:srgbClr val="142233"/>
            </a:gs>
            <a:gs pos="0">
              <a:schemeClr val="tx1"/>
            </a:gs>
            <a:gs pos="100000">
              <a:srgbClr val="4E84C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C1E-9D56-3F0B-29DD-309F9B71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711BE-BDB7-5335-742C-157DC12725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9490"/>
            <a:ext cx="4042988" cy="355867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A9AFE34-A521-02E5-C3FD-3A06F355D4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0BC0AA-1C00-53EA-F674-76069458B38F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38B36A-EDA8-48AE-4DF9-D6F4DF998A1C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B21428D9-7936-C319-911C-E744C6EA2FC7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EC37624-5B5C-D1D9-3E9C-8F33ADE729CE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7C39D41-711D-AA9B-DE60-414E6BE2CD45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ABE1F10C-97F1-66C9-4270-8365A934E4A1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B6592BA9-29CC-BF5B-B651-E2CCE6B95AD2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3F8E3F0-6E5F-88D6-DBEB-2031E235BEA7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0E43E72-11FC-E85B-0ECE-E4F5DB48317F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61C5303-80CC-79C7-9D5D-F413490EAFFC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A1CCE335-BE9B-C2DB-04D1-A9CDB7D22E11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D163E49-74C3-3135-4C49-25ADF887EFE6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84620B5-7439-9E11-0F3C-D38EF0B85259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54DAAC7A-B43C-46E5-6860-3790382C5837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3B9A379-7EA4-B272-3051-086C1705C02D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2A173BD-B35F-F550-434E-A21A928F8238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44C8347-BB78-5DD5-537A-B4C6D847A549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BCDB9967-7651-FD33-40ED-5B17BCC9256E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1B1D7FF-D2A0-B5CF-4D2D-F9D9E471DE84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FD47FD3-8C41-AB29-4014-B2CF56A5F8AC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181DEC8-92DE-0E8D-18A5-D0C37057E3FB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25F5A4C-C1E9-F793-B211-C75B1785DDE8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7E86D8-3A6A-6986-BD21-6675587F06FB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EE2389B6-3FC7-B6A4-A70B-6E8C5195C1F1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E8305D0C-D65E-A011-D438-8031F0150AA6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9F9E58C-3C1A-3AA4-F7A7-BD5F44A4DA1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23EFE9CA-11E3-EADA-441F-24B2B6E38AEF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02EADE3-B10D-BE63-D2EB-D7E810DC357C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D1D7AF11-ABA2-8706-4F81-AA276C80656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4FF046B-9556-054B-BA86-D7F768A06322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DE61E86-8661-D2D4-5FEC-59588A6BEB9B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1E68537-AABB-D39B-9699-34F3CFEFEDCF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CB54FBB-A35D-AE5D-AC63-F6D6A51808E8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7376F5F-70C3-3289-6902-5EF85DC967A7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19B01-8152-11FA-B64D-F94A3D5E8BE8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DDF2D3D-B16A-0AA4-382C-F3DEE2B9D1F1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39725B3-21C7-8D04-5B63-51FA8A69FD17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7865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3F5E46-0106-F6A3-64BD-4FA139A479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4580" y="884789"/>
            <a:ext cx="3769359" cy="377235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C4708F-FBAB-85A9-77CA-44C0F5E868A9}"/>
              </a:ext>
            </a:extLst>
          </p:cNvPr>
          <p:cNvSpPr/>
          <p:nvPr userDrawn="1"/>
        </p:nvSpPr>
        <p:spPr>
          <a:xfrm>
            <a:off x="0" y="0"/>
            <a:ext cx="354330" cy="6438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20DF3F-2024-46F8-1842-359BB2F59C27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CDFADEF-617E-8463-7298-478D54D29D07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4" name="Graphic 8">
                <a:extLst>
                  <a:ext uri="{FF2B5EF4-FFF2-40B4-BE49-F238E27FC236}">
                    <a16:creationId xmlns:a16="http://schemas.microsoft.com/office/drawing/2014/main" id="{9328878E-565E-36F5-D692-AEACCA80F7BC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CA5B1B0-69FE-BA81-35FD-ACA652634603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71270AF3-A2C9-692D-F4CE-FE916B9090D3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aphic 8">
                <a:extLst>
                  <a:ext uri="{FF2B5EF4-FFF2-40B4-BE49-F238E27FC236}">
                    <a16:creationId xmlns:a16="http://schemas.microsoft.com/office/drawing/2014/main" id="{66C9D5CE-F263-1F1F-5F76-A680B0E26607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5B06149-7354-C5EF-5846-957CAEC1CC25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E01FFA22-B093-6CCD-A72D-9E895850F564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9DACB0AF-38DF-A74E-8C2A-17533032BA33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C2C6CDD-8F96-0423-D7D0-7D34FDF0FDCA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0BFA87A1-3E8A-BA16-982B-2220D6D8D1FD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1D0DA53-D896-6ECD-ACC3-D2E0208DD6C4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9921C3CA-4C4A-9FF6-0180-4F6F4B98113F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2AC5986-9012-60B5-2BCE-BC1A0DE102DD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68C7F13-015E-11FD-79F7-A842F16BC045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981F5719-225A-AFCE-C72E-4D8A62F2BBFE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B327B37B-1A1E-32F3-5525-2F635051BA9E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DA4AEE43-3EC4-F690-5C50-6C08441E04AA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A311164F-90E1-3DC4-5B88-641A7A70D8DA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0E199C59-6936-191A-557F-B7D6331538DF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380CE232-7383-95BE-3953-878AF3D6789F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15D75E38-8326-6178-27EE-9B764C023176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1679A9A6-FF9A-5398-EA8D-1085C227907A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83A0624-537E-EBAE-309D-CAA7F70CAFF6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A09BB031-A2C7-D05B-73DA-2B08FAAD12E0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78EAF6D2-7517-14C7-3E6D-8EF581A5B794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80AF7256-DA55-25A0-D146-D4B3B1C39A17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AA3F354-5772-E3FD-D6E7-A6B4B11C705E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BC5D070-8557-C08C-93A4-089BB5D02F82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CE5BD017-3AC6-1515-FA1F-0E041D4B138F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95CDB3F6-BFA8-F10C-2206-D3A57A9AF2DA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D5B4F87-6E22-4DED-B630-C2420D95FAD5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F73CDCA-52CC-6330-B9FF-C9F295B53A4D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FCAEB0F-443E-5D40-F607-5E2114215515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5B710F4-19EC-BCD6-A67E-4446B1B3B817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CA6E38E-CF0B-9F3D-5448-2C562EC9B901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6C99882-FE9E-C8F0-C4CB-A2B82C1CFE99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72E48B6A-5719-A4F5-967A-B7A119483A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120" y="1428750"/>
            <a:ext cx="398906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dirty="0" smtClean="0">
                <a:cs typeface="Calibri"/>
              </a:defRPr>
            </a:lvl1pPr>
            <a:lvl2pPr>
              <a:defRPr lang="en-US" sz="818" dirty="0" smtClean="0">
                <a:solidFill>
                  <a:schemeClr val="tx1"/>
                </a:solidFill>
              </a:defRPr>
            </a:lvl2pPr>
            <a:lvl3pPr>
              <a:defRPr lang="en-US" sz="818" dirty="0" smtClean="0">
                <a:solidFill>
                  <a:schemeClr val="tx1"/>
                </a:solidFill>
              </a:defRPr>
            </a:lvl3pPr>
            <a:lvl4pPr>
              <a:defRPr lang="en-US" sz="818" dirty="0" smtClean="0">
                <a:solidFill>
                  <a:schemeClr val="tx1"/>
                </a:solidFill>
              </a:defRPr>
            </a:lvl4pPr>
            <a:lvl5pPr>
              <a:defRPr lang="en-US" sz="818" dirty="0">
                <a:solidFill>
                  <a:schemeClr val="tx1"/>
                </a:solidFill>
              </a:defRPr>
            </a:lvl5pPr>
          </a:lstStyle>
          <a:p>
            <a:pPr marL="0" marR="2310" lvl="0" defTabSz="415525">
              <a:spcBef>
                <a:spcPts val="120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5867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3F5E46-0106-F6A3-64BD-4FA139A479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4580" y="884789"/>
            <a:ext cx="3769359" cy="377235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40D7DC1-95EA-0B6A-0ACF-B0A2CB5AAE5A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tx1"/>
          </a:solidFill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D6B3254-9C7B-CBEE-BCFF-64CD39708D39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88" name="Graphic 8">
                <a:extLst>
                  <a:ext uri="{FF2B5EF4-FFF2-40B4-BE49-F238E27FC236}">
                    <a16:creationId xmlns:a16="http://schemas.microsoft.com/office/drawing/2014/main" id="{627426C5-1235-7F28-F825-CF5DA0EF9E8E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EBF02D95-C4EF-D897-9735-E00649E7D181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2B0449C0-6DEB-3178-1FFA-6DCA690934C2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aphic 8">
                <a:extLst>
                  <a:ext uri="{FF2B5EF4-FFF2-40B4-BE49-F238E27FC236}">
                    <a16:creationId xmlns:a16="http://schemas.microsoft.com/office/drawing/2014/main" id="{16E2A2A9-3BE7-F109-A4DD-A0E1300E826A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02FDE846-4B87-9530-BF1E-0A9BB4AC47CF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32BE4632-1E44-2A31-F8E6-422F1F40169E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76D1EB1D-5DBC-4C37-397E-B113E89FA4C3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1F6AFA81-A4DF-2257-6DBC-8605E19F4795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AC335623-DB6A-AE81-756D-7B291DC57007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503ECB28-350C-1402-04B2-7BA5E81770E6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368F1EA4-66EF-220D-3ED3-3FCE88877EE6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608A482F-2991-3F91-9C26-3438FE7B7C3A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50D772B9-3551-EBBB-D440-087286679E92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44E49030-C2D0-149F-0D98-96E61CFC2766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62E523F1-71CC-141A-7D55-97D54021F2A3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0279CF07-8F68-5188-151D-20CAA7BFD456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C3E8F44B-8A87-2A04-AD6D-1034D6D725C8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9357D15D-10D7-57CD-2588-3A0C136CB4DC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37E15DB8-DDA6-03FD-9F5B-CF6C0D1F71E0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AA126930-B6F4-D955-72DF-34E7C3CB6D78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2CC73032-3E90-DE02-5896-3FDC7D640FC8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C65E0B0C-BAE8-46B9-318D-7BF5B5F05BBC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B1BE733D-5645-9846-C4B5-919F7E5A49B1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AA3C37E1-7FE0-16CD-CCD5-A68E43ACF098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5C2F4071-CC9B-A0F0-3FB0-DF508C6917D0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B34E4139-9B2B-FFE6-5694-8A5553847B4A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5EBA6382-85CE-105C-B33E-CD876BF81119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0" name="Graphic 8">
              <a:extLst>
                <a:ext uri="{FF2B5EF4-FFF2-40B4-BE49-F238E27FC236}">
                  <a16:creationId xmlns:a16="http://schemas.microsoft.com/office/drawing/2014/main" id="{90101F9F-F9B0-F548-4D15-4F09E3593F43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91A6458-93A4-F2F6-57B1-17D5B27CEB6F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98D6B3FB-BCBD-3D14-7CA9-31024D51C961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3212518-8225-C45C-9708-EBB60603D8C8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DB7B919-4D9D-4979-0DB1-6BD0A8A47BE5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84C0A227-570B-F33D-3D4E-B6D57B672B81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82A1C60-4FA8-03A9-71EF-15157212738A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C7C9C57-D34F-406F-1B36-B909BB21C8A7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BFF83-6937-1EE7-AAFB-333D362D99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8120" y="1428750"/>
            <a:ext cx="398906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mtClean="0">
                <a:solidFill>
                  <a:schemeClr val="tx1"/>
                </a:solidFill>
                <a:cs typeface="Calibri"/>
              </a:defRPr>
            </a:lvl1pPr>
            <a:lvl2pPr>
              <a:defRPr lang="en-US" sz="818" smtClean="0">
                <a:solidFill>
                  <a:schemeClr val="tx1"/>
                </a:solidFill>
              </a:defRPr>
            </a:lvl2pPr>
            <a:lvl3pPr>
              <a:defRPr lang="en-US" sz="818" smtClean="0">
                <a:solidFill>
                  <a:schemeClr val="tx1"/>
                </a:solidFill>
              </a:defRPr>
            </a:lvl3pPr>
            <a:lvl4pPr>
              <a:defRPr lang="en-US" sz="818" smtClean="0">
                <a:solidFill>
                  <a:schemeClr val="tx1"/>
                </a:solidFill>
              </a:defRPr>
            </a:lvl4pPr>
            <a:lvl5pPr>
              <a:defRPr lang="en-US" sz="818">
                <a:solidFill>
                  <a:schemeClr val="tx1"/>
                </a:solidFill>
              </a:defRPr>
            </a:lvl5pPr>
          </a:lstStyle>
          <a:p>
            <a:pPr marL="0" marR="2310" lvl="0" defTabSz="415525">
              <a:spcBef>
                <a:spcPts val="1200"/>
              </a:spcBef>
              <a:spcAft>
                <a:spcPts val="600"/>
              </a:spcAft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480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2ADE80-F35C-381A-C871-E1A3C6208B5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0CB8AA-960C-4650-ABE9-4A6EFCAF5D81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D1CCB6F-A314-28BE-B118-A56B465A98B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F3404D-499E-D5A1-04D0-555C768C2AC7}"/>
              </a:ext>
            </a:extLst>
          </p:cNvPr>
          <p:cNvSpPr/>
          <p:nvPr userDrawn="1"/>
        </p:nvSpPr>
        <p:spPr>
          <a:xfrm>
            <a:off x="37301" y="63500"/>
            <a:ext cx="215112" cy="432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44" y="142092"/>
            <a:ext cx="8651153" cy="553027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1066799"/>
            <a:ext cx="7886700" cy="3148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12604" y="4923599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800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US" smtClean="0"/>
              <a:pPr algn="ctr" defTabSz="914355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>
            <a:cxnSpLocks/>
          </p:cNvCxnSpPr>
          <p:nvPr userDrawn="1"/>
        </p:nvCxnSpPr>
        <p:spPr>
          <a:xfrm>
            <a:off x="4578258" y="4923599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70C-B26D-BE0C-66B2-29D3B3DE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0610" y="4923599"/>
            <a:ext cx="1603957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US" sz="800" b="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defTabSz="914355"/>
            <a:r>
              <a:rPr lang="en-US"/>
              <a:t>TCS confidential</a:t>
            </a:r>
            <a:endParaRPr lang="en-US" b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E0F0CE1-8645-61D0-5518-E4B1A4715276}"/>
              </a:ext>
            </a:extLst>
          </p:cNvPr>
          <p:cNvGrpSpPr/>
          <p:nvPr userDrawn="1"/>
        </p:nvGrpSpPr>
        <p:grpSpPr>
          <a:xfrm>
            <a:off x="274638" y="4648193"/>
            <a:ext cx="8570864" cy="390410"/>
            <a:chOff x="274638" y="4648193"/>
            <a:chExt cx="8570864" cy="39041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BA98EF3-FD5A-D6B6-D03A-09DCE544B3B3}"/>
                </a:ext>
              </a:extLst>
            </p:cNvPr>
            <p:cNvGrpSpPr/>
            <p:nvPr userDrawn="1"/>
          </p:nvGrpSpPr>
          <p:grpSpPr>
            <a:xfrm>
              <a:off x="274638" y="4736080"/>
              <a:ext cx="1266904" cy="302523"/>
              <a:chOff x="0" y="2427986"/>
              <a:chExt cx="1581147" cy="380839"/>
            </a:xfrm>
            <a:solidFill>
              <a:schemeClr val="tx1"/>
            </a:solidFill>
          </p:grpSpPr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6A864035-4916-9D07-A328-B0B77259FB88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887486D1-6148-25E5-8B69-2E86997D2E99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128B5B0-2B3A-2523-CFA3-6A25B1677711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aphic 8">
                <a:extLst>
                  <a:ext uri="{FF2B5EF4-FFF2-40B4-BE49-F238E27FC236}">
                    <a16:creationId xmlns:a16="http://schemas.microsoft.com/office/drawing/2014/main" id="{76F89B44-4E2A-2901-43F8-C2B4E44C4745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E281FF5E-801A-3BCB-C338-99F8BEE24C36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47F79F4-C2AF-EAB5-4E0A-A8811C7D6DB8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48C2DC0-28EB-B957-A92C-1B0C721682D2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CFFE4F-00C5-1CA0-6321-489F8FDABAA0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CB8DA398-4586-1C93-D328-236F449CC51F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3A6780F-E2FF-ACBB-126D-A6EE988AD3CE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8EF6F0C6-51F3-442F-560E-BAF987F3A17F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46FA2A2-A7EF-6C78-740C-66B2275733FF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84FEFA3-AE64-0153-E49A-D3191AC2B75B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DA88088-D432-2B0F-E890-A9AE5B0B2F02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49EB0B1-5788-5615-CD2E-F92B8141228B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9835C1E-0593-DF1C-AB5B-EB963674D597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23633971-B149-1FC2-C64F-44D03152FB5F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6EBEC20-D11F-8367-0039-5102C16F036B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DB717EBD-E5EA-2306-20A6-43CFBE1036ED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C75A4E4-E823-4B4A-C73A-7FDB5468BF51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BAD737C0-1BA9-2FE0-A65E-1F07D8D3AA44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194EDEF5-B578-C1A6-445B-FD082C01AE50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F3E00F67-5384-6921-564D-84F0B1F500F5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1AF84FA6-EEBF-AC0B-B5D4-DFA3CF029D6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D28BE1A1-6672-B8C4-2AFD-83AE50B5E2E3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BDC03EBD-BFED-398A-EAB6-8F7219E04B03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FA0C079-126A-074A-7F9C-F49B63E1A87D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E161D1F-49E9-74F0-C3AD-39CC0007C997}"/>
                </a:ext>
              </a:extLst>
            </p:cNvPr>
            <p:cNvGrpSpPr/>
            <p:nvPr/>
          </p:nvGrpSpPr>
          <p:grpSpPr>
            <a:xfrm>
              <a:off x="8409533" y="4648193"/>
              <a:ext cx="435969" cy="387958"/>
              <a:chOff x="8599610" y="2333965"/>
              <a:chExt cx="542618" cy="474759"/>
            </a:xfrm>
            <a:solidFill>
              <a:schemeClr val="tx1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B156583-CC6C-8785-ABD9-3186C75575DC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2A71BDE-E554-FD3C-4880-6AA431E0396D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7DFE2EF-49AB-69FE-2954-AAF3DBC01CB7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C8E8AF9-EBE3-A7B8-D5CA-C83382702DB8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685416F-70E3-EE8B-EECE-D187E9D10AF2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3743317-A437-A7BA-3700-643131095A4C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00C6F21-CDBB-8106-009D-0BE1B2B07EC1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650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35" r:id="rId4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400" b="0" kern="0" spc="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3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868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orient="horz" pos="5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2ADE80-F35C-381A-C871-E1A3C6208B5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0CB8AA-960C-4650-ABE9-4A6EFCAF5D81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D1CCB6F-A314-28BE-B118-A56B465A98B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F3404D-499E-D5A1-04D0-555C768C2AC7}"/>
              </a:ext>
            </a:extLst>
          </p:cNvPr>
          <p:cNvSpPr/>
          <p:nvPr userDrawn="1"/>
        </p:nvSpPr>
        <p:spPr>
          <a:xfrm>
            <a:off x="37301" y="63500"/>
            <a:ext cx="215112" cy="432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44" y="142092"/>
            <a:ext cx="8651153" cy="553027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1066799"/>
            <a:ext cx="7886700" cy="3148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12604" y="4923599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800" b="1" smtClean="0">
                <a:solidFill>
                  <a:schemeClr val="bg1">
                    <a:lumMod val="6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US" smtClean="0"/>
              <a:pPr algn="ctr" defTabSz="914355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>
            <a:cxnSpLocks/>
          </p:cNvCxnSpPr>
          <p:nvPr userDrawn="1"/>
        </p:nvCxnSpPr>
        <p:spPr>
          <a:xfrm>
            <a:off x="4578258" y="4923599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70C-B26D-BE0C-66B2-29D3B3DE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0610" y="4923599"/>
            <a:ext cx="1603957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US" sz="800" b="0" spc="0" baseline="0">
                <a:solidFill>
                  <a:schemeClr val="bg1">
                    <a:lumMod val="8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defTabSz="914355"/>
            <a:r>
              <a:rPr lang="en-US"/>
              <a:t>TCS confidential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E0F0CE1-8645-61D0-5518-E4B1A4715276}"/>
              </a:ext>
            </a:extLst>
          </p:cNvPr>
          <p:cNvGrpSpPr/>
          <p:nvPr userDrawn="1"/>
        </p:nvGrpSpPr>
        <p:grpSpPr>
          <a:xfrm>
            <a:off x="274638" y="4648193"/>
            <a:ext cx="8570864" cy="390410"/>
            <a:chOff x="274638" y="4648193"/>
            <a:chExt cx="8570864" cy="390410"/>
          </a:xfrm>
          <a:solidFill>
            <a:schemeClr val="bg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BA98EF3-FD5A-D6B6-D03A-09DCE544B3B3}"/>
                </a:ext>
              </a:extLst>
            </p:cNvPr>
            <p:cNvGrpSpPr/>
            <p:nvPr userDrawn="1"/>
          </p:nvGrpSpPr>
          <p:grpSpPr>
            <a:xfrm>
              <a:off x="274638" y="4736080"/>
              <a:ext cx="1266904" cy="302523"/>
              <a:chOff x="0" y="2427986"/>
              <a:chExt cx="1581147" cy="380839"/>
            </a:xfrm>
            <a:grpFill/>
          </p:grpSpPr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6A864035-4916-9D07-A328-B0B77259FB88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887486D1-6148-25E5-8B69-2E86997D2E99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128B5B0-2B3A-2523-CFA3-6A25B1677711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aphic 8">
                <a:extLst>
                  <a:ext uri="{FF2B5EF4-FFF2-40B4-BE49-F238E27FC236}">
                    <a16:creationId xmlns:a16="http://schemas.microsoft.com/office/drawing/2014/main" id="{76F89B44-4E2A-2901-43F8-C2B4E44C4745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E281FF5E-801A-3BCB-C338-99F8BEE24C36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347F79F4-C2AF-EAB5-4E0A-A8811C7D6DB8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48C2DC0-28EB-B957-A92C-1B0C721682D2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CFFE4F-00C5-1CA0-6321-489F8FDABAA0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CB8DA398-4586-1C93-D328-236F449CC51F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3A6780F-E2FF-ACBB-126D-A6EE988AD3CE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8EF6F0C6-51F3-442F-560E-BAF987F3A17F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46FA2A2-A7EF-6C78-740C-66B2275733FF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84FEFA3-AE64-0153-E49A-D3191AC2B75B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DA88088-D432-2B0F-E890-A9AE5B0B2F02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49EB0B1-5788-5615-CD2E-F92B8141228B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9835C1E-0593-DF1C-AB5B-EB963674D597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23633971-B149-1FC2-C64F-44D03152FB5F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6EBEC20-D11F-8367-0039-5102C16F036B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DB717EBD-E5EA-2306-20A6-43CFBE1036ED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C75A4E4-E823-4B4A-C73A-7FDB5468BF51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BAD737C0-1BA9-2FE0-A65E-1F07D8D3AA44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194EDEF5-B578-C1A6-445B-FD082C01AE50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F3E00F67-5384-6921-564D-84F0B1F500F5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1AF84FA6-EEBF-AC0B-B5D4-DFA3CF029D6F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D28BE1A1-6672-B8C4-2AFD-83AE50B5E2E3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BDC03EBD-BFED-398A-EAB6-8F7219E04B03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FA0C079-126A-074A-7F9C-F49B63E1A87D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9E161D1F-49E9-74F0-C3AD-39CC0007C997}"/>
                </a:ext>
              </a:extLst>
            </p:cNvPr>
            <p:cNvGrpSpPr/>
            <p:nvPr/>
          </p:nvGrpSpPr>
          <p:grpSpPr>
            <a:xfrm>
              <a:off x="8409533" y="4648193"/>
              <a:ext cx="435969" cy="387958"/>
              <a:chOff x="8599610" y="2333965"/>
              <a:chExt cx="542618" cy="474759"/>
            </a:xfrm>
            <a:grpFill/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B156583-CC6C-8785-ABD9-3186C75575DC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2A71BDE-E554-FD3C-4880-6AA431E0396D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7DFE2EF-49AB-69FE-2954-AAF3DBC01CB7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C8E8AF9-EBE3-A7B8-D5CA-C83382702DB8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685416F-70E3-EE8B-EECE-D187E9D10AF2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3743317-A437-A7BA-3700-643131095A4C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00C6F21-CDBB-8106-009D-0BE1B2B07EC1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06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8" r:id="rId4"/>
    <p:sldLayoutId id="2147483709" r:id="rId5"/>
    <p:sldLayoutId id="2147483710" r:id="rId6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400" b="0" kern="0" spc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3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868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orient="horz" pos="5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8" y="1583013"/>
            <a:ext cx="5266122" cy="554107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1238" y="2203049"/>
            <a:ext cx="4042988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168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32" r:id="rId3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32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2200" kern="1200" spc="2" dirty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3" orient="horz" pos="386">
          <p15:clr>
            <a:srgbClr val="F26B43"/>
          </p15:clr>
        </p15:guide>
        <p15:guide id="4" orient="horz" pos="915">
          <p15:clr>
            <a:srgbClr val="F26B43"/>
          </p15:clr>
        </p15:guide>
        <p15:guide id="5" pos="170">
          <p15:clr>
            <a:srgbClr val="F26B43"/>
          </p15:clr>
        </p15:guide>
        <p15:guide id="6" pos="5580">
          <p15:clr>
            <a:srgbClr val="F26B43"/>
          </p15:clr>
        </p15:guide>
        <p15:guide id="7" orient="horz" pos="161">
          <p15:clr>
            <a:srgbClr val="F26B43"/>
          </p15:clr>
        </p15:guide>
        <p15:guide id="8" orient="horz" pos="134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6014A62E-1EB1-23B3-039A-558CE51BAB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B11AEC-8C1B-C8F0-73A2-E379B1430F63}"/>
              </a:ext>
            </a:extLst>
          </p:cNvPr>
          <p:cNvSpPr/>
          <p:nvPr userDrawn="1"/>
        </p:nvSpPr>
        <p:spPr>
          <a:xfrm>
            <a:off x="4873688" y="863878"/>
            <a:ext cx="3814354" cy="3817383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9975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72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74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5E66-7DC9-B6B4-E146-EC89BB97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D57EE3-9121-839F-725E-4AE267C5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8" y="881744"/>
            <a:ext cx="6481463" cy="1057059"/>
          </a:xfrm>
        </p:spPr>
        <p:txBody>
          <a:bodyPr vert="horz" wrap="square" lIns="0" tIns="12065" rIns="0" bIns="0" rtlCol="0">
            <a:noAutofit/>
          </a:bodyPr>
          <a:lstStyle/>
          <a:p>
            <a:r>
              <a:rPr lang="en" b="1">
                <a:solidFill>
                  <a:srgbClr val="4E84C4"/>
                </a:solidFill>
              </a:rPr>
              <a:t>Cross-Layer Anomaly Detection in an SDN-Enabled Heterogeneous Network</a:t>
            </a:r>
            <a:endParaRPr lang="en-US" b="1">
              <a:solidFill>
                <a:srgbClr val="4E84C4"/>
              </a:solidFill>
              <a:ea typeface="Calibri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58DD8-F7A0-20CC-3973-B0153095A2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77693" y="2631539"/>
            <a:ext cx="2377428" cy="1679306"/>
          </a:xfrm>
        </p:spPr>
        <p:txBody>
          <a:bodyPr vert="horz" wrap="square" lIns="0" tIns="17145" rIns="0" bIns="0" rtlCol="0">
            <a:spAutoFit/>
          </a:bodyPr>
          <a:lstStyle/>
          <a:p>
            <a:r>
              <a:rPr lang="en-US" sz="1800" b="1" dirty="0">
                <a:solidFill>
                  <a:srgbClr val="FBB034"/>
                </a:solidFill>
                <a:latin typeface="Calibri Light"/>
                <a:ea typeface="Calibri Light"/>
                <a:cs typeface="Calibri Light"/>
              </a:rPr>
              <a:t>Team 14</a:t>
            </a:r>
            <a:br>
              <a:rPr lang="en-US" sz="1800" dirty="0">
                <a:latin typeface="Calibri Light"/>
                <a:ea typeface="Calibri Light"/>
                <a:cs typeface="Calibri Light"/>
              </a:rPr>
            </a:br>
            <a:r>
              <a:rPr lang="en-US" sz="1800" dirty="0">
                <a:latin typeface="Calibri Light"/>
                <a:ea typeface="Calibri Light"/>
                <a:cs typeface="Calibri Light"/>
              </a:rPr>
              <a:t>Achu Jayan (3202501)</a:t>
            </a:r>
            <a:endParaRPr lang="en-US" sz="1800" dirty="0">
              <a:ea typeface="Calibri Light"/>
            </a:endParaRP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Rishav Datta (3252570)</a:t>
            </a: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Sambit Sahoo (3161365)</a:t>
            </a:r>
          </a:p>
          <a:p>
            <a:br>
              <a:rPr lang="en-US" sz="1800" dirty="0">
                <a:latin typeface="Calibri Light"/>
                <a:ea typeface="Calibri Light"/>
                <a:cs typeface="Calibri Light"/>
              </a:rPr>
            </a:br>
            <a:endParaRPr lang="en-US" sz="1800" dirty="0">
              <a:ea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23255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E8D6A8-E751-EADF-00BE-9866E4483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90" y="916042"/>
            <a:ext cx="8777328" cy="22379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accent3"/>
                </a:solidFill>
              </a:rPr>
              <a:t>Problem Statement</a:t>
            </a:r>
            <a:r>
              <a:rPr lang="en-IN" b="1" dirty="0">
                <a:solidFill>
                  <a:schemeClr val="accent3"/>
                </a:solidFill>
              </a:rPr>
              <a:t>:</a:t>
            </a:r>
            <a:r>
              <a:rPr lang="en-IN" b="1" dirty="0"/>
              <a:t> </a:t>
            </a:r>
            <a:r>
              <a:rPr lang="en-IN" dirty="0"/>
              <a:t>Design and development of SDN-controlled heterogeneous network testbed for cross-layer telemetry-based anomaly detection.</a:t>
            </a:r>
            <a:endParaRPr lang="en-IN" b="1">
              <a:ea typeface="Calibri Light"/>
              <a:cs typeface="Calibri Light"/>
            </a:endParaRPr>
          </a:p>
          <a:p>
            <a:pPr marL="227965" indent="-227965">
              <a:buFont typeface="Courier New" panose="020B0604020202020204" pitchFamily="34" charset="0"/>
              <a:buChar char="o"/>
            </a:pPr>
            <a:endParaRPr lang="en-IN" b="1" dirty="0">
              <a:ea typeface="Calibri Light"/>
              <a:cs typeface="Calibri Light"/>
            </a:endParaRPr>
          </a:p>
          <a:p>
            <a:pPr marL="227965" indent="-227965">
              <a:buFont typeface="Courier New" panose="020B0604020202020204" pitchFamily="34" charset="0"/>
              <a:buChar char="o"/>
            </a:pPr>
            <a:r>
              <a:rPr lang="en-IN" sz="1800" dirty="0">
                <a:latin typeface="Calibri Light"/>
                <a:ea typeface="Calibri Light"/>
                <a:cs typeface="Calibri Light"/>
              </a:rPr>
              <a:t>A</a:t>
            </a:r>
            <a:r>
              <a:rPr lang="en-IN" dirty="0">
                <a:latin typeface="Calibri Light"/>
                <a:ea typeface="Calibri Light"/>
                <a:cs typeface="Calibri Light"/>
              </a:rPr>
              <a:t>lex a Network Operations Engineer is flooded with alarms from multiple dashboards. Customers are complaining, services are down. Hours spent on investigation, yet nobody knows where the problem actually started.</a:t>
            </a:r>
          </a:p>
          <a:p>
            <a:pPr marL="227965" indent="-227965">
              <a:buFont typeface="Courier New" panose="020B0604020202020204" pitchFamily="34" charset="0"/>
              <a:buChar char="o"/>
            </a:pPr>
            <a:r>
              <a:rPr lang="en-IN" sz="1400" dirty="0">
                <a:latin typeface="Nunito"/>
                <a:ea typeface="Calibri Light"/>
                <a:cs typeface="Calibri Light"/>
              </a:rPr>
              <a:t>The real challenge is an anomaly that can propagate and appear as a performance problem.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B6E68-F1DB-000A-0169-1065B976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8EA2B-EB27-1251-9D49-7AD14194860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60B4E2-08B2-A593-863A-F023456E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89" y="231469"/>
            <a:ext cx="8651153" cy="553027"/>
          </a:xfrm>
        </p:spPr>
        <p:txBody>
          <a:bodyPr/>
          <a:lstStyle/>
          <a:p>
            <a:r>
              <a:rPr lang="en-IN" sz="3600"/>
              <a:t>Problem and Motivation</a:t>
            </a:r>
            <a:endParaRPr lang="en-IN" sz="3600">
              <a:ea typeface="Calibri"/>
              <a:cs typeface="Calibri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487813-C086-3732-EAB8-35604C94C96F}"/>
              </a:ext>
            </a:extLst>
          </p:cNvPr>
          <p:cNvSpPr/>
          <p:nvPr/>
        </p:nvSpPr>
        <p:spPr>
          <a:xfrm>
            <a:off x="679314" y="3276942"/>
            <a:ext cx="3265507" cy="1058628"/>
          </a:xfrm>
          <a:custGeom>
            <a:avLst/>
            <a:gdLst>
              <a:gd name="connsiteX0" fmla="*/ 2393068 w 2393068"/>
              <a:gd name="connsiteY0" fmla="*/ 419539 h 839077"/>
              <a:gd name="connsiteX1" fmla="*/ 2270191 w 2393068"/>
              <a:gd name="connsiteY1" fmla="*/ 122877 h 839077"/>
              <a:gd name="connsiteX2" fmla="*/ 1973529 w 2393068"/>
              <a:gd name="connsiteY2" fmla="*/ 0 h 839077"/>
              <a:gd name="connsiteX3" fmla="*/ 419539 w 2393068"/>
              <a:gd name="connsiteY3" fmla="*/ 0 h 839077"/>
              <a:gd name="connsiteX4" fmla="*/ 0 w 2393068"/>
              <a:gd name="connsiteY4" fmla="*/ 419539 h 839077"/>
              <a:gd name="connsiteX5" fmla="*/ 0 w 2393068"/>
              <a:gd name="connsiteY5" fmla="*/ 419539 h 839077"/>
              <a:gd name="connsiteX6" fmla="*/ 122877 w 2393068"/>
              <a:gd name="connsiteY6" fmla="*/ 716200 h 839077"/>
              <a:gd name="connsiteX7" fmla="*/ 419539 w 2393068"/>
              <a:gd name="connsiteY7" fmla="*/ 839078 h 839077"/>
              <a:gd name="connsiteX8" fmla="*/ 1973529 w 2393068"/>
              <a:gd name="connsiteY8" fmla="*/ 839078 h 839077"/>
              <a:gd name="connsiteX9" fmla="*/ 2270191 w 2393068"/>
              <a:gd name="connsiteY9" fmla="*/ 716200 h 839077"/>
              <a:gd name="connsiteX10" fmla="*/ 2393068 w 2393068"/>
              <a:gd name="connsiteY10" fmla="*/ 419539 h 839077"/>
              <a:gd name="connsiteX11" fmla="*/ 2393068 w 2393068"/>
              <a:gd name="connsiteY11" fmla="*/ 419539 h 839077"/>
              <a:gd name="connsiteX12" fmla="*/ 2357492 w 2393068"/>
              <a:gd name="connsiteY12" fmla="*/ 419539 h 839077"/>
              <a:gd name="connsiteX13" fmla="*/ 2357492 w 2393068"/>
              <a:gd name="connsiteY13" fmla="*/ 419539 h 839077"/>
              <a:gd name="connsiteX14" fmla="*/ 2245030 w 2393068"/>
              <a:gd name="connsiteY14" fmla="*/ 691040 h 839077"/>
              <a:gd name="connsiteX15" fmla="*/ 1973529 w 2393068"/>
              <a:gd name="connsiteY15" fmla="*/ 803502 h 839077"/>
              <a:gd name="connsiteX16" fmla="*/ 419539 w 2393068"/>
              <a:gd name="connsiteY16" fmla="*/ 803502 h 839077"/>
              <a:gd name="connsiteX17" fmla="*/ 148038 w 2393068"/>
              <a:gd name="connsiteY17" fmla="*/ 691040 h 839077"/>
              <a:gd name="connsiteX18" fmla="*/ 35576 w 2393068"/>
              <a:gd name="connsiteY18" fmla="*/ 419539 h 839077"/>
              <a:gd name="connsiteX19" fmla="*/ 35576 w 2393068"/>
              <a:gd name="connsiteY19" fmla="*/ 419539 h 839077"/>
              <a:gd name="connsiteX20" fmla="*/ 419539 w 2393068"/>
              <a:gd name="connsiteY20" fmla="*/ 35576 h 839077"/>
              <a:gd name="connsiteX21" fmla="*/ 1973529 w 2393068"/>
              <a:gd name="connsiteY21" fmla="*/ 35576 h 839077"/>
              <a:gd name="connsiteX22" fmla="*/ 2245030 w 2393068"/>
              <a:gd name="connsiteY22" fmla="*/ 148038 h 839077"/>
              <a:gd name="connsiteX23" fmla="*/ 2357492 w 2393068"/>
              <a:gd name="connsiteY23" fmla="*/ 419539 h 839077"/>
              <a:gd name="connsiteX24" fmla="*/ 2357492 w 2393068"/>
              <a:gd name="connsiteY24" fmla="*/ 419539 h 83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93068" h="839077">
                <a:moveTo>
                  <a:pt x="2393068" y="419539"/>
                </a:moveTo>
                <a:cubicBezTo>
                  <a:pt x="2393068" y="308247"/>
                  <a:pt x="2348891" y="201578"/>
                  <a:pt x="2270191" y="122877"/>
                </a:cubicBezTo>
                <a:cubicBezTo>
                  <a:pt x="2191490" y="44177"/>
                  <a:pt x="2084821" y="0"/>
                  <a:pt x="1973529" y="0"/>
                </a:cubicBezTo>
                <a:lnTo>
                  <a:pt x="419539" y="0"/>
                </a:lnTo>
                <a:cubicBezTo>
                  <a:pt x="187827" y="0"/>
                  <a:pt x="0" y="187827"/>
                  <a:pt x="0" y="419539"/>
                </a:cubicBezTo>
                <a:lnTo>
                  <a:pt x="0" y="419539"/>
                </a:lnTo>
                <a:cubicBezTo>
                  <a:pt x="0" y="530831"/>
                  <a:pt x="44177" y="637500"/>
                  <a:pt x="122877" y="716200"/>
                </a:cubicBezTo>
                <a:cubicBezTo>
                  <a:pt x="201578" y="794900"/>
                  <a:pt x="308247" y="839078"/>
                  <a:pt x="419539" y="839078"/>
                </a:cubicBezTo>
                <a:lnTo>
                  <a:pt x="1973529" y="839078"/>
                </a:lnTo>
                <a:cubicBezTo>
                  <a:pt x="2084763" y="839078"/>
                  <a:pt x="2191490" y="794900"/>
                  <a:pt x="2270191" y="716200"/>
                </a:cubicBezTo>
                <a:cubicBezTo>
                  <a:pt x="2348891" y="637500"/>
                  <a:pt x="2393068" y="530831"/>
                  <a:pt x="2393068" y="419539"/>
                </a:cubicBezTo>
                <a:lnTo>
                  <a:pt x="2393068" y="419539"/>
                </a:lnTo>
                <a:close/>
                <a:moveTo>
                  <a:pt x="2357492" y="419539"/>
                </a:moveTo>
                <a:lnTo>
                  <a:pt x="2357492" y="419539"/>
                </a:lnTo>
                <a:cubicBezTo>
                  <a:pt x="2357492" y="521352"/>
                  <a:pt x="2317060" y="619010"/>
                  <a:pt x="2245030" y="691040"/>
                </a:cubicBezTo>
                <a:cubicBezTo>
                  <a:pt x="2173001" y="763069"/>
                  <a:pt x="2075342" y="803502"/>
                  <a:pt x="1973529" y="803502"/>
                </a:cubicBezTo>
                <a:lnTo>
                  <a:pt x="419539" y="803502"/>
                </a:lnTo>
                <a:cubicBezTo>
                  <a:pt x="317726" y="803502"/>
                  <a:pt x="220068" y="763069"/>
                  <a:pt x="148038" y="691040"/>
                </a:cubicBezTo>
                <a:cubicBezTo>
                  <a:pt x="76008" y="619010"/>
                  <a:pt x="35576" y="521352"/>
                  <a:pt x="35576" y="419539"/>
                </a:cubicBezTo>
                <a:lnTo>
                  <a:pt x="35576" y="419539"/>
                </a:lnTo>
                <a:cubicBezTo>
                  <a:pt x="35576" y="207487"/>
                  <a:pt x="207488" y="35576"/>
                  <a:pt x="419539" y="35576"/>
                </a:cubicBezTo>
                <a:lnTo>
                  <a:pt x="1973529" y="35576"/>
                </a:lnTo>
                <a:cubicBezTo>
                  <a:pt x="2075342" y="35576"/>
                  <a:pt x="2173001" y="76008"/>
                  <a:pt x="2245030" y="148038"/>
                </a:cubicBezTo>
                <a:cubicBezTo>
                  <a:pt x="2317060" y="220068"/>
                  <a:pt x="2357492" y="317726"/>
                  <a:pt x="2357492" y="419539"/>
                </a:cubicBezTo>
                <a:lnTo>
                  <a:pt x="2357492" y="419539"/>
                </a:lnTo>
                <a:close/>
              </a:path>
            </a:pathLst>
          </a:custGeom>
          <a:solidFill>
            <a:srgbClr val="4E84C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D2ABC766-9A7E-55A0-7541-21DD823BFCB3}"/>
              </a:ext>
            </a:extLst>
          </p:cNvPr>
          <p:cNvSpPr txBox="1"/>
          <p:nvPr/>
        </p:nvSpPr>
        <p:spPr>
          <a:xfrm>
            <a:off x="1371436" y="3415981"/>
            <a:ext cx="2549398" cy="91025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FBB034"/>
                </a:solidFill>
                <a:latin typeface="Nunito"/>
                <a:ea typeface="Calibri"/>
                <a:cs typeface="Calibri"/>
              </a:rPr>
              <a:t>What if we could collect telemetry from multiple layers, correlate the information, and automatically detect anomalies under centralized SDN control?</a:t>
            </a:r>
          </a:p>
          <a:p>
            <a:endParaRPr lang="en-IN" sz="1100" dirty="0">
              <a:solidFill>
                <a:srgbClr val="FBB034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040E9A-EF1C-3E27-DEB0-0C4BB922361C}"/>
              </a:ext>
            </a:extLst>
          </p:cNvPr>
          <p:cNvGrpSpPr/>
          <p:nvPr/>
        </p:nvGrpSpPr>
        <p:grpSpPr>
          <a:xfrm>
            <a:off x="850887" y="3513334"/>
            <a:ext cx="420942" cy="465882"/>
            <a:chOff x="5110401" y="3544792"/>
            <a:chExt cx="420942" cy="465882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1590B80-1CAA-F6C8-4048-E3F449574451}"/>
                </a:ext>
              </a:extLst>
            </p:cNvPr>
            <p:cNvSpPr/>
            <p:nvPr/>
          </p:nvSpPr>
          <p:spPr>
            <a:xfrm>
              <a:off x="5191472" y="3629608"/>
              <a:ext cx="258838" cy="266069"/>
            </a:xfrm>
            <a:custGeom>
              <a:avLst/>
              <a:gdLst>
                <a:gd name="connsiteX0" fmla="*/ 72700 w 258838"/>
                <a:gd name="connsiteY0" fmla="*/ 266069 h 266069"/>
                <a:gd name="connsiteX1" fmla="*/ 221 w 258838"/>
                <a:gd name="connsiteY1" fmla="*/ 121496 h 266069"/>
                <a:gd name="connsiteX2" fmla="*/ 129428 w 258838"/>
                <a:gd name="connsiteY2" fmla="*/ 0 h 266069"/>
                <a:gd name="connsiteX3" fmla="*/ 258580 w 258838"/>
                <a:gd name="connsiteY3" fmla="*/ 121496 h 266069"/>
                <a:gd name="connsiteX4" fmla="*/ 190782 w 258838"/>
                <a:gd name="connsiteY4" fmla="*/ 241010 h 26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838" h="266069">
                  <a:moveTo>
                    <a:pt x="72700" y="266069"/>
                  </a:moveTo>
                  <a:cubicBezTo>
                    <a:pt x="67633" y="188027"/>
                    <a:pt x="7160" y="227516"/>
                    <a:pt x="221" y="121496"/>
                  </a:cubicBezTo>
                  <a:cubicBezTo>
                    <a:pt x="-4185" y="54580"/>
                    <a:pt x="58050" y="0"/>
                    <a:pt x="129428" y="0"/>
                  </a:cubicBezTo>
                  <a:cubicBezTo>
                    <a:pt x="200806" y="0"/>
                    <a:pt x="263372" y="54580"/>
                    <a:pt x="258580" y="121496"/>
                  </a:cubicBezTo>
                  <a:cubicBezTo>
                    <a:pt x="252137" y="211985"/>
                    <a:pt x="207250" y="193700"/>
                    <a:pt x="190782" y="241010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1DC127B-1A9C-495F-5CC9-25BD09D0900A}"/>
                </a:ext>
              </a:extLst>
            </p:cNvPr>
            <p:cNvSpPr/>
            <p:nvPr/>
          </p:nvSpPr>
          <p:spPr>
            <a:xfrm>
              <a:off x="5266155" y="3958188"/>
              <a:ext cx="116429" cy="30511"/>
            </a:xfrm>
            <a:custGeom>
              <a:avLst/>
              <a:gdLst>
                <a:gd name="connsiteX0" fmla="*/ 0 w 116429"/>
                <a:gd name="connsiteY0" fmla="*/ 30512 h 30511"/>
                <a:gd name="connsiteX1" fmla="*/ 116430 w 116429"/>
                <a:gd name="connsiteY1" fmla="*/ 0 h 30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429" h="30511">
                  <a:moveTo>
                    <a:pt x="0" y="30512"/>
                  </a:moveTo>
                  <a:lnTo>
                    <a:pt x="11643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5A7DEB-E1AC-AA0B-44CF-0DA56BA720A9}"/>
                </a:ext>
              </a:extLst>
            </p:cNvPr>
            <p:cNvSpPr/>
            <p:nvPr/>
          </p:nvSpPr>
          <p:spPr>
            <a:xfrm>
              <a:off x="5266155" y="3914293"/>
              <a:ext cx="116429" cy="30566"/>
            </a:xfrm>
            <a:custGeom>
              <a:avLst/>
              <a:gdLst>
                <a:gd name="connsiteX0" fmla="*/ 0 w 116429"/>
                <a:gd name="connsiteY0" fmla="*/ 30567 h 30566"/>
                <a:gd name="connsiteX1" fmla="*/ 116430 w 116429"/>
                <a:gd name="connsiteY1" fmla="*/ 0 h 3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429" h="30566">
                  <a:moveTo>
                    <a:pt x="0" y="30567"/>
                  </a:moveTo>
                  <a:lnTo>
                    <a:pt x="11643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6B5FD4-4A53-7A91-66CF-98D449D4AE2B}"/>
                </a:ext>
              </a:extLst>
            </p:cNvPr>
            <p:cNvSpPr/>
            <p:nvPr/>
          </p:nvSpPr>
          <p:spPr>
            <a:xfrm>
              <a:off x="5266155" y="3870453"/>
              <a:ext cx="116429" cy="30511"/>
            </a:xfrm>
            <a:custGeom>
              <a:avLst/>
              <a:gdLst>
                <a:gd name="connsiteX0" fmla="*/ 0 w 116429"/>
                <a:gd name="connsiteY0" fmla="*/ 30512 h 30511"/>
                <a:gd name="connsiteX1" fmla="*/ 116430 w 116429"/>
                <a:gd name="connsiteY1" fmla="*/ 0 h 30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429" h="30511">
                  <a:moveTo>
                    <a:pt x="0" y="30512"/>
                  </a:moveTo>
                  <a:lnTo>
                    <a:pt x="11643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007B302-5A7E-BDF7-F352-932F22BBEF3E}"/>
                </a:ext>
              </a:extLst>
            </p:cNvPr>
            <p:cNvSpPr/>
            <p:nvPr/>
          </p:nvSpPr>
          <p:spPr>
            <a:xfrm>
              <a:off x="5286257" y="3974545"/>
              <a:ext cx="76224" cy="36129"/>
            </a:xfrm>
            <a:custGeom>
              <a:avLst/>
              <a:gdLst>
                <a:gd name="connsiteX0" fmla="*/ 76225 w 76224"/>
                <a:gd name="connsiteY0" fmla="*/ 0 h 36129"/>
                <a:gd name="connsiteX1" fmla="*/ 34643 w 76224"/>
                <a:gd name="connsiteY1" fmla="*/ 36129 h 36129"/>
                <a:gd name="connsiteX2" fmla="*/ 0 w 76224"/>
                <a:gd name="connsiteY2" fmla="*/ 19937 h 3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24" h="36129">
                  <a:moveTo>
                    <a:pt x="76225" y="0"/>
                  </a:moveTo>
                  <a:cubicBezTo>
                    <a:pt x="76225" y="19992"/>
                    <a:pt x="57609" y="36129"/>
                    <a:pt x="34643" y="36129"/>
                  </a:cubicBezTo>
                  <a:cubicBezTo>
                    <a:pt x="20158" y="36129"/>
                    <a:pt x="7435" y="29686"/>
                    <a:pt x="0" y="19937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53A73A-0EEE-1A57-9AFA-1A792332E0D2}"/>
                </a:ext>
              </a:extLst>
            </p:cNvPr>
            <p:cNvSpPr/>
            <p:nvPr/>
          </p:nvSpPr>
          <p:spPr>
            <a:xfrm>
              <a:off x="5324865" y="3544792"/>
              <a:ext cx="5507" cy="39103"/>
            </a:xfrm>
            <a:custGeom>
              <a:avLst/>
              <a:gdLst>
                <a:gd name="connsiteX0" fmla="*/ 0 w 5507"/>
                <a:gd name="connsiteY0" fmla="*/ 0 h 39103"/>
                <a:gd name="connsiteX1" fmla="*/ 0 w 5507"/>
                <a:gd name="connsiteY1" fmla="*/ 39104 h 3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07" h="39103">
                  <a:moveTo>
                    <a:pt x="0" y="0"/>
                  </a:moveTo>
                  <a:lnTo>
                    <a:pt x="0" y="39104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038FE35-94B5-FCF2-4438-1F17751F6C52}"/>
                </a:ext>
              </a:extLst>
            </p:cNvPr>
            <p:cNvSpPr/>
            <p:nvPr/>
          </p:nvSpPr>
          <p:spPr>
            <a:xfrm>
              <a:off x="5439202" y="3598876"/>
              <a:ext cx="27647" cy="27647"/>
            </a:xfrm>
            <a:custGeom>
              <a:avLst/>
              <a:gdLst>
                <a:gd name="connsiteX0" fmla="*/ 27648 w 27647"/>
                <a:gd name="connsiteY0" fmla="*/ 0 h 27647"/>
                <a:gd name="connsiteX1" fmla="*/ 0 w 27647"/>
                <a:gd name="connsiteY1" fmla="*/ 27648 h 2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47" h="27647">
                  <a:moveTo>
                    <a:pt x="27648" y="0"/>
                  </a:moveTo>
                  <a:lnTo>
                    <a:pt x="0" y="27648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8CFC84-0DD8-0ED4-84C3-B9F7C9F4CF02}"/>
                </a:ext>
              </a:extLst>
            </p:cNvPr>
            <p:cNvSpPr/>
            <p:nvPr/>
          </p:nvSpPr>
          <p:spPr>
            <a:xfrm>
              <a:off x="5492240" y="3751214"/>
              <a:ext cx="39103" cy="5507"/>
            </a:xfrm>
            <a:custGeom>
              <a:avLst/>
              <a:gdLst>
                <a:gd name="connsiteX0" fmla="*/ 39104 w 39103"/>
                <a:gd name="connsiteY0" fmla="*/ 0 h 5507"/>
                <a:gd name="connsiteX1" fmla="*/ 0 w 39103"/>
                <a:gd name="connsiteY1" fmla="*/ 0 h 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103" h="5507">
                  <a:moveTo>
                    <a:pt x="39104" y="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206ABA-7D97-1798-F7C6-2B5D8849A75E}"/>
                </a:ext>
              </a:extLst>
            </p:cNvPr>
            <p:cNvSpPr/>
            <p:nvPr/>
          </p:nvSpPr>
          <p:spPr>
            <a:xfrm>
              <a:off x="5433530" y="3869571"/>
              <a:ext cx="27703" cy="27647"/>
            </a:xfrm>
            <a:custGeom>
              <a:avLst/>
              <a:gdLst>
                <a:gd name="connsiteX0" fmla="*/ 27703 w 27703"/>
                <a:gd name="connsiteY0" fmla="*/ 27648 h 27647"/>
                <a:gd name="connsiteX1" fmla="*/ 0 w 27703"/>
                <a:gd name="connsiteY1" fmla="*/ 0 h 2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703" h="27647">
                  <a:moveTo>
                    <a:pt x="27703" y="27648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05FCD4D-1800-E93E-7EEC-7BF106A1329F}"/>
                </a:ext>
              </a:extLst>
            </p:cNvPr>
            <p:cNvSpPr/>
            <p:nvPr/>
          </p:nvSpPr>
          <p:spPr>
            <a:xfrm>
              <a:off x="5180567" y="3598876"/>
              <a:ext cx="27647" cy="27647"/>
            </a:xfrm>
            <a:custGeom>
              <a:avLst/>
              <a:gdLst>
                <a:gd name="connsiteX0" fmla="*/ 0 w 27647"/>
                <a:gd name="connsiteY0" fmla="*/ 0 h 27647"/>
                <a:gd name="connsiteX1" fmla="*/ 27648 w 27647"/>
                <a:gd name="connsiteY1" fmla="*/ 27648 h 2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47" h="27647">
                  <a:moveTo>
                    <a:pt x="0" y="0"/>
                  </a:moveTo>
                  <a:lnTo>
                    <a:pt x="27648" y="27648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DB5BBC-78FD-4C0E-E442-CC7AB1DF8707}"/>
                </a:ext>
              </a:extLst>
            </p:cNvPr>
            <p:cNvSpPr/>
            <p:nvPr/>
          </p:nvSpPr>
          <p:spPr>
            <a:xfrm>
              <a:off x="5110401" y="3743228"/>
              <a:ext cx="39103" cy="5507"/>
            </a:xfrm>
            <a:custGeom>
              <a:avLst/>
              <a:gdLst>
                <a:gd name="connsiteX0" fmla="*/ 0 w 39103"/>
                <a:gd name="connsiteY0" fmla="*/ 0 h 5507"/>
                <a:gd name="connsiteX1" fmla="*/ 39104 w 39103"/>
                <a:gd name="connsiteY1" fmla="*/ 0 h 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103" h="5507">
                  <a:moveTo>
                    <a:pt x="0" y="0"/>
                  </a:moveTo>
                  <a:lnTo>
                    <a:pt x="39104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D5DE427-AB0B-3A8F-37F2-23121241EDC8}"/>
                </a:ext>
              </a:extLst>
            </p:cNvPr>
            <p:cNvSpPr/>
            <p:nvPr/>
          </p:nvSpPr>
          <p:spPr>
            <a:xfrm>
              <a:off x="5174894" y="3869571"/>
              <a:ext cx="27647" cy="27647"/>
            </a:xfrm>
            <a:custGeom>
              <a:avLst/>
              <a:gdLst>
                <a:gd name="connsiteX0" fmla="*/ 0 w 27647"/>
                <a:gd name="connsiteY0" fmla="*/ 27648 h 27647"/>
                <a:gd name="connsiteX1" fmla="*/ 27648 w 27647"/>
                <a:gd name="connsiteY1" fmla="*/ 0 h 2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47" h="27647">
                  <a:moveTo>
                    <a:pt x="0" y="27648"/>
                  </a:moveTo>
                  <a:lnTo>
                    <a:pt x="27648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B259015-CA89-032C-B24E-11EAB5DA71B6}"/>
                </a:ext>
              </a:extLst>
            </p:cNvPr>
            <p:cNvSpPr/>
            <p:nvPr/>
          </p:nvSpPr>
          <p:spPr>
            <a:xfrm>
              <a:off x="5274196" y="3717178"/>
              <a:ext cx="106461" cy="112904"/>
            </a:xfrm>
            <a:custGeom>
              <a:avLst/>
              <a:gdLst>
                <a:gd name="connsiteX0" fmla="*/ 0 w 106461"/>
                <a:gd name="connsiteY0" fmla="*/ 54415 h 112904"/>
                <a:gd name="connsiteX1" fmla="*/ 42518 w 106461"/>
                <a:gd name="connsiteY1" fmla="*/ 112905 h 112904"/>
                <a:gd name="connsiteX2" fmla="*/ 106461 w 106461"/>
                <a:gd name="connsiteY2" fmla="*/ 0 h 1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461" h="112904">
                  <a:moveTo>
                    <a:pt x="0" y="54415"/>
                  </a:moveTo>
                  <a:lnTo>
                    <a:pt x="42518" y="112905"/>
                  </a:lnTo>
                  <a:lnTo>
                    <a:pt x="106461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03059F-B1C7-E9B1-37FD-E9F31115857A}"/>
              </a:ext>
            </a:extLst>
          </p:cNvPr>
          <p:cNvSpPr/>
          <p:nvPr/>
        </p:nvSpPr>
        <p:spPr>
          <a:xfrm>
            <a:off x="5111605" y="3276732"/>
            <a:ext cx="3265506" cy="1058628"/>
          </a:xfrm>
          <a:custGeom>
            <a:avLst/>
            <a:gdLst>
              <a:gd name="connsiteX0" fmla="*/ 0 w 2393068"/>
              <a:gd name="connsiteY0" fmla="*/ 419539 h 839077"/>
              <a:gd name="connsiteX1" fmla="*/ 0 w 2393068"/>
              <a:gd name="connsiteY1" fmla="*/ 419539 h 839077"/>
              <a:gd name="connsiteX2" fmla="*/ 122877 w 2393068"/>
              <a:gd name="connsiteY2" fmla="*/ 716200 h 839077"/>
              <a:gd name="connsiteX3" fmla="*/ 419539 w 2393068"/>
              <a:gd name="connsiteY3" fmla="*/ 839078 h 839077"/>
              <a:gd name="connsiteX4" fmla="*/ 1973530 w 2393068"/>
              <a:gd name="connsiteY4" fmla="*/ 839078 h 839077"/>
              <a:gd name="connsiteX5" fmla="*/ 2270191 w 2393068"/>
              <a:gd name="connsiteY5" fmla="*/ 716200 h 839077"/>
              <a:gd name="connsiteX6" fmla="*/ 2393068 w 2393068"/>
              <a:gd name="connsiteY6" fmla="*/ 419539 h 839077"/>
              <a:gd name="connsiteX7" fmla="*/ 2393068 w 2393068"/>
              <a:gd name="connsiteY7" fmla="*/ 419539 h 839077"/>
              <a:gd name="connsiteX8" fmla="*/ 1973530 w 2393068"/>
              <a:gd name="connsiteY8" fmla="*/ 0 h 839077"/>
              <a:gd name="connsiteX9" fmla="*/ 419539 w 2393068"/>
              <a:gd name="connsiteY9" fmla="*/ 0 h 839077"/>
              <a:gd name="connsiteX10" fmla="*/ 122877 w 2393068"/>
              <a:gd name="connsiteY10" fmla="*/ 122877 h 839077"/>
              <a:gd name="connsiteX11" fmla="*/ 0 w 2393068"/>
              <a:gd name="connsiteY11" fmla="*/ 419539 h 839077"/>
              <a:gd name="connsiteX12" fmla="*/ 0 w 2393068"/>
              <a:gd name="connsiteY12" fmla="*/ 419539 h 839077"/>
              <a:gd name="connsiteX13" fmla="*/ 35576 w 2393068"/>
              <a:gd name="connsiteY13" fmla="*/ 419539 h 839077"/>
              <a:gd name="connsiteX14" fmla="*/ 148038 w 2393068"/>
              <a:gd name="connsiteY14" fmla="*/ 148038 h 839077"/>
              <a:gd name="connsiteX15" fmla="*/ 419539 w 2393068"/>
              <a:gd name="connsiteY15" fmla="*/ 35576 h 839077"/>
              <a:gd name="connsiteX16" fmla="*/ 1973530 w 2393068"/>
              <a:gd name="connsiteY16" fmla="*/ 35576 h 839077"/>
              <a:gd name="connsiteX17" fmla="*/ 2357492 w 2393068"/>
              <a:gd name="connsiteY17" fmla="*/ 419539 h 839077"/>
              <a:gd name="connsiteX18" fmla="*/ 2357492 w 2393068"/>
              <a:gd name="connsiteY18" fmla="*/ 419539 h 839077"/>
              <a:gd name="connsiteX19" fmla="*/ 2245030 w 2393068"/>
              <a:gd name="connsiteY19" fmla="*/ 691040 h 839077"/>
              <a:gd name="connsiteX20" fmla="*/ 1973530 w 2393068"/>
              <a:gd name="connsiteY20" fmla="*/ 803502 h 839077"/>
              <a:gd name="connsiteX21" fmla="*/ 419539 w 2393068"/>
              <a:gd name="connsiteY21" fmla="*/ 803502 h 839077"/>
              <a:gd name="connsiteX22" fmla="*/ 148038 w 2393068"/>
              <a:gd name="connsiteY22" fmla="*/ 691040 h 839077"/>
              <a:gd name="connsiteX23" fmla="*/ 35576 w 2393068"/>
              <a:gd name="connsiteY23" fmla="*/ 419539 h 839077"/>
              <a:gd name="connsiteX24" fmla="*/ 35576 w 2393068"/>
              <a:gd name="connsiteY24" fmla="*/ 419539 h 83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93068" h="839077">
                <a:moveTo>
                  <a:pt x="0" y="419539"/>
                </a:moveTo>
                <a:lnTo>
                  <a:pt x="0" y="419539"/>
                </a:lnTo>
                <a:cubicBezTo>
                  <a:pt x="0" y="530831"/>
                  <a:pt x="44177" y="637500"/>
                  <a:pt x="122877" y="716200"/>
                </a:cubicBezTo>
                <a:cubicBezTo>
                  <a:pt x="201578" y="794900"/>
                  <a:pt x="308247" y="839078"/>
                  <a:pt x="419539" y="839078"/>
                </a:cubicBezTo>
                <a:lnTo>
                  <a:pt x="1973530" y="839078"/>
                </a:lnTo>
                <a:cubicBezTo>
                  <a:pt x="2084821" y="839078"/>
                  <a:pt x="2191491" y="794900"/>
                  <a:pt x="2270191" y="716200"/>
                </a:cubicBezTo>
                <a:cubicBezTo>
                  <a:pt x="2348891" y="637500"/>
                  <a:pt x="2393068" y="530831"/>
                  <a:pt x="2393068" y="419539"/>
                </a:cubicBezTo>
                <a:lnTo>
                  <a:pt x="2393068" y="419539"/>
                </a:lnTo>
                <a:cubicBezTo>
                  <a:pt x="2393068" y="187827"/>
                  <a:pt x="2205241" y="0"/>
                  <a:pt x="1973530" y="0"/>
                </a:cubicBezTo>
                <a:lnTo>
                  <a:pt x="419539" y="0"/>
                </a:lnTo>
                <a:cubicBezTo>
                  <a:pt x="308247" y="0"/>
                  <a:pt x="201578" y="44177"/>
                  <a:pt x="122877" y="122877"/>
                </a:cubicBezTo>
                <a:cubicBezTo>
                  <a:pt x="44177" y="201578"/>
                  <a:pt x="0" y="308247"/>
                  <a:pt x="0" y="419539"/>
                </a:cubicBezTo>
                <a:lnTo>
                  <a:pt x="0" y="419539"/>
                </a:lnTo>
                <a:close/>
                <a:moveTo>
                  <a:pt x="35576" y="419539"/>
                </a:moveTo>
                <a:cubicBezTo>
                  <a:pt x="35576" y="317726"/>
                  <a:pt x="76009" y="220068"/>
                  <a:pt x="148038" y="148038"/>
                </a:cubicBezTo>
                <a:cubicBezTo>
                  <a:pt x="220068" y="76008"/>
                  <a:pt x="317726" y="35576"/>
                  <a:pt x="419539" y="35576"/>
                </a:cubicBezTo>
                <a:lnTo>
                  <a:pt x="1973530" y="35576"/>
                </a:lnTo>
                <a:cubicBezTo>
                  <a:pt x="2185581" y="35576"/>
                  <a:pt x="2357492" y="207487"/>
                  <a:pt x="2357492" y="419539"/>
                </a:cubicBezTo>
                <a:lnTo>
                  <a:pt x="2357492" y="419539"/>
                </a:lnTo>
                <a:cubicBezTo>
                  <a:pt x="2357492" y="521352"/>
                  <a:pt x="2317060" y="619010"/>
                  <a:pt x="2245030" y="691040"/>
                </a:cubicBezTo>
                <a:cubicBezTo>
                  <a:pt x="2173001" y="763069"/>
                  <a:pt x="2075342" y="803502"/>
                  <a:pt x="1973530" y="803502"/>
                </a:cubicBezTo>
                <a:lnTo>
                  <a:pt x="419539" y="803502"/>
                </a:lnTo>
                <a:cubicBezTo>
                  <a:pt x="317726" y="803502"/>
                  <a:pt x="220068" y="763069"/>
                  <a:pt x="148038" y="691040"/>
                </a:cubicBezTo>
                <a:cubicBezTo>
                  <a:pt x="76009" y="619010"/>
                  <a:pt x="35576" y="521352"/>
                  <a:pt x="35576" y="419539"/>
                </a:cubicBezTo>
                <a:lnTo>
                  <a:pt x="35576" y="419539"/>
                </a:lnTo>
                <a:close/>
              </a:path>
            </a:pathLst>
          </a:custGeom>
          <a:solidFill>
            <a:srgbClr val="4E84C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7DD85AE-8B26-26E9-6DAB-C133F580602C}"/>
              </a:ext>
            </a:extLst>
          </p:cNvPr>
          <p:cNvGrpSpPr/>
          <p:nvPr/>
        </p:nvGrpSpPr>
        <p:grpSpPr>
          <a:xfrm>
            <a:off x="5336604" y="3511452"/>
            <a:ext cx="630102" cy="588767"/>
            <a:chOff x="3507663" y="3572289"/>
            <a:chExt cx="461758" cy="46666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383B855-3BB5-0BED-80C9-0183B8FCE494}"/>
                </a:ext>
              </a:extLst>
            </p:cNvPr>
            <p:cNvSpPr/>
            <p:nvPr/>
          </p:nvSpPr>
          <p:spPr>
            <a:xfrm>
              <a:off x="3544398" y="3752371"/>
              <a:ext cx="233189" cy="148424"/>
            </a:xfrm>
            <a:custGeom>
              <a:avLst/>
              <a:gdLst>
                <a:gd name="connsiteX0" fmla="*/ 233132 w 233189"/>
                <a:gd name="connsiteY0" fmla="*/ 0 h 148424"/>
                <a:gd name="connsiteX1" fmla="*/ 0 w 233189"/>
                <a:gd name="connsiteY1" fmla="*/ 0 h 148424"/>
                <a:gd name="connsiteX2" fmla="*/ 0 w 233189"/>
                <a:gd name="connsiteY2" fmla="*/ 148424 h 148424"/>
                <a:gd name="connsiteX3" fmla="*/ 233189 w 233189"/>
                <a:gd name="connsiteY3" fmla="*/ 148424 h 148424"/>
                <a:gd name="connsiteX4" fmla="*/ 233189 w 233189"/>
                <a:gd name="connsiteY4" fmla="*/ 0 h 148424"/>
                <a:gd name="connsiteX5" fmla="*/ 233189 w 233189"/>
                <a:gd name="connsiteY5" fmla="*/ 0 h 1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3189" h="148424">
                  <a:moveTo>
                    <a:pt x="233132" y="0"/>
                  </a:moveTo>
                  <a:lnTo>
                    <a:pt x="0" y="0"/>
                  </a:lnTo>
                  <a:lnTo>
                    <a:pt x="0" y="148424"/>
                  </a:lnTo>
                  <a:lnTo>
                    <a:pt x="233189" y="148424"/>
                  </a:lnTo>
                  <a:lnTo>
                    <a:pt x="233189" y="0"/>
                  </a:lnTo>
                  <a:lnTo>
                    <a:pt x="233189" y="0"/>
                  </a:ln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3B69225-8828-EB36-B862-EF7BD33E7784}"/>
                </a:ext>
              </a:extLst>
            </p:cNvPr>
            <p:cNvSpPr/>
            <p:nvPr/>
          </p:nvSpPr>
          <p:spPr>
            <a:xfrm>
              <a:off x="3629733" y="3572289"/>
              <a:ext cx="336721" cy="215277"/>
            </a:xfrm>
            <a:custGeom>
              <a:avLst/>
              <a:gdLst>
                <a:gd name="connsiteX0" fmla="*/ 155783 w 336721"/>
                <a:gd name="connsiteY0" fmla="*/ 215278 h 215277"/>
                <a:gd name="connsiteX1" fmla="*/ 336721 w 336721"/>
                <a:gd name="connsiteY1" fmla="*/ 215278 h 215277"/>
                <a:gd name="connsiteX2" fmla="*/ 336721 w 336721"/>
                <a:gd name="connsiteY2" fmla="*/ 0 h 215277"/>
                <a:gd name="connsiteX3" fmla="*/ 0 w 336721"/>
                <a:gd name="connsiteY3" fmla="*/ 0 h 215277"/>
                <a:gd name="connsiteX4" fmla="*/ 0 w 336721"/>
                <a:gd name="connsiteY4" fmla="*/ 171469 h 21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721" h="215277">
                  <a:moveTo>
                    <a:pt x="155783" y="215278"/>
                  </a:moveTo>
                  <a:lnTo>
                    <a:pt x="336721" y="215278"/>
                  </a:lnTo>
                  <a:lnTo>
                    <a:pt x="336721" y="0"/>
                  </a:lnTo>
                  <a:lnTo>
                    <a:pt x="0" y="0"/>
                  </a:lnTo>
                  <a:lnTo>
                    <a:pt x="0" y="171469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43A3BD1-AF34-2278-D8F6-49D935917FFB}"/>
                </a:ext>
              </a:extLst>
            </p:cNvPr>
            <p:cNvSpPr/>
            <p:nvPr/>
          </p:nvSpPr>
          <p:spPr>
            <a:xfrm>
              <a:off x="3802173" y="3791046"/>
              <a:ext cx="5704" cy="47687"/>
            </a:xfrm>
            <a:custGeom>
              <a:avLst/>
              <a:gdLst>
                <a:gd name="connsiteX0" fmla="*/ 0 w 5704"/>
                <a:gd name="connsiteY0" fmla="*/ 47687 h 47687"/>
                <a:gd name="connsiteX1" fmla="*/ 0 w 5704"/>
                <a:gd name="connsiteY1" fmla="*/ 0 h 47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4" h="47687">
                  <a:moveTo>
                    <a:pt x="0" y="47687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337640F-D7B0-8B85-2690-DF7213367AB3}"/>
                </a:ext>
              </a:extLst>
            </p:cNvPr>
            <p:cNvSpPr/>
            <p:nvPr/>
          </p:nvSpPr>
          <p:spPr>
            <a:xfrm>
              <a:off x="3783577" y="3846777"/>
              <a:ext cx="97770" cy="5704"/>
            </a:xfrm>
            <a:custGeom>
              <a:avLst/>
              <a:gdLst>
                <a:gd name="connsiteX0" fmla="*/ 0 w 97770"/>
                <a:gd name="connsiteY0" fmla="*/ 0 h 5704"/>
                <a:gd name="connsiteX1" fmla="*/ 97771 w 97770"/>
                <a:gd name="connsiteY1" fmla="*/ 0 h 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770" h="5704">
                  <a:moveTo>
                    <a:pt x="0" y="0"/>
                  </a:moveTo>
                  <a:lnTo>
                    <a:pt x="97771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0FDD47F-2AB7-97AF-47F4-7C1B9177F6FD}"/>
                </a:ext>
              </a:extLst>
            </p:cNvPr>
            <p:cNvSpPr/>
            <p:nvPr/>
          </p:nvSpPr>
          <p:spPr>
            <a:xfrm>
              <a:off x="3872563" y="3885223"/>
              <a:ext cx="96858" cy="153729"/>
            </a:xfrm>
            <a:custGeom>
              <a:avLst/>
              <a:gdLst>
                <a:gd name="connsiteX0" fmla="*/ 10268 w 96858"/>
                <a:gd name="connsiteY0" fmla="*/ 0 h 153729"/>
                <a:gd name="connsiteX1" fmla="*/ 86590 w 96858"/>
                <a:gd name="connsiteY1" fmla="*/ 0 h 153729"/>
                <a:gd name="connsiteX2" fmla="*/ 96858 w 96858"/>
                <a:gd name="connsiteY2" fmla="*/ 10268 h 153729"/>
                <a:gd name="connsiteX3" fmla="*/ 96858 w 96858"/>
                <a:gd name="connsiteY3" fmla="*/ 143462 h 153729"/>
                <a:gd name="connsiteX4" fmla="*/ 86590 w 96858"/>
                <a:gd name="connsiteY4" fmla="*/ 153729 h 153729"/>
                <a:gd name="connsiteX5" fmla="*/ 10268 w 96858"/>
                <a:gd name="connsiteY5" fmla="*/ 153729 h 153729"/>
                <a:gd name="connsiteX6" fmla="*/ 0 w 96858"/>
                <a:gd name="connsiteY6" fmla="*/ 143462 h 153729"/>
                <a:gd name="connsiteX7" fmla="*/ 0 w 96858"/>
                <a:gd name="connsiteY7" fmla="*/ 10268 h 153729"/>
                <a:gd name="connsiteX8" fmla="*/ 10268 w 96858"/>
                <a:gd name="connsiteY8" fmla="*/ 0 h 153729"/>
                <a:gd name="connsiteX9" fmla="*/ 10268 w 96858"/>
                <a:gd name="connsiteY9" fmla="*/ 0 h 15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858" h="153729">
                  <a:moveTo>
                    <a:pt x="10268" y="0"/>
                  </a:moveTo>
                  <a:lnTo>
                    <a:pt x="86590" y="0"/>
                  </a:lnTo>
                  <a:cubicBezTo>
                    <a:pt x="92238" y="0"/>
                    <a:pt x="96858" y="4620"/>
                    <a:pt x="96858" y="10268"/>
                  </a:cubicBezTo>
                  <a:lnTo>
                    <a:pt x="96858" y="143462"/>
                  </a:lnTo>
                  <a:cubicBezTo>
                    <a:pt x="96858" y="149109"/>
                    <a:pt x="92238" y="153729"/>
                    <a:pt x="86590" y="153729"/>
                  </a:cubicBezTo>
                  <a:lnTo>
                    <a:pt x="10268" y="153729"/>
                  </a:lnTo>
                  <a:cubicBezTo>
                    <a:pt x="4620" y="153729"/>
                    <a:pt x="0" y="149109"/>
                    <a:pt x="0" y="143462"/>
                  </a:cubicBezTo>
                  <a:lnTo>
                    <a:pt x="0" y="10268"/>
                  </a:lnTo>
                  <a:cubicBezTo>
                    <a:pt x="0" y="4620"/>
                    <a:pt x="4620" y="0"/>
                    <a:pt x="10268" y="0"/>
                  </a:cubicBezTo>
                  <a:lnTo>
                    <a:pt x="10268" y="0"/>
                  </a:ln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BD951F0-222A-6781-289C-37AE42FD1A39}"/>
                </a:ext>
              </a:extLst>
            </p:cNvPr>
            <p:cNvSpPr/>
            <p:nvPr/>
          </p:nvSpPr>
          <p:spPr>
            <a:xfrm>
              <a:off x="3824191" y="3791217"/>
              <a:ext cx="5704" cy="47687"/>
            </a:xfrm>
            <a:custGeom>
              <a:avLst/>
              <a:gdLst>
                <a:gd name="connsiteX0" fmla="*/ 0 w 5704"/>
                <a:gd name="connsiteY0" fmla="*/ 47687 h 47687"/>
                <a:gd name="connsiteX1" fmla="*/ 0 w 5704"/>
                <a:gd name="connsiteY1" fmla="*/ 0 h 47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4" h="47687">
                  <a:moveTo>
                    <a:pt x="0" y="47687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A6A568C-A163-D01C-3111-6FF8C426E82F}"/>
                </a:ext>
              </a:extLst>
            </p:cNvPr>
            <p:cNvSpPr/>
            <p:nvPr/>
          </p:nvSpPr>
          <p:spPr>
            <a:xfrm>
              <a:off x="3507663" y="3947456"/>
              <a:ext cx="306602" cy="5704"/>
            </a:xfrm>
            <a:custGeom>
              <a:avLst/>
              <a:gdLst>
                <a:gd name="connsiteX0" fmla="*/ 0 w 306602"/>
                <a:gd name="connsiteY0" fmla="*/ 0 h 5704"/>
                <a:gd name="connsiteX1" fmla="*/ 306603 w 306602"/>
                <a:gd name="connsiteY1" fmla="*/ 0 h 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6602" h="5704">
                  <a:moveTo>
                    <a:pt x="0" y="0"/>
                  </a:moveTo>
                  <a:lnTo>
                    <a:pt x="306603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5" name="object 19">
            <a:extLst>
              <a:ext uri="{FF2B5EF4-FFF2-40B4-BE49-F238E27FC236}">
                <a16:creationId xmlns:a16="http://schemas.microsoft.com/office/drawing/2014/main" id="{386F18A4-B384-A39D-5F17-66D8B8FAE943}"/>
              </a:ext>
            </a:extLst>
          </p:cNvPr>
          <p:cNvSpPr txBox="1"/>
          <p:nvPr/>
        </p:nvSpPr>
        <p:spPr>
          <a:xfrm>
            <a:off x="6137888" y="3415933"/>
            <a:ext cx="2081496" cy="55399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IN" sz="1100" b="1">
                <a:solidFill>
                  <a:srgbClr val="FBB034"/>
                </a:solidFill>
                <a:latin typeface="Nunito"/>
                <a:ea typeface="Nunito"/>
                <a:cs typeface="Nunito"/>
                <a:sym typeface="Nunito"/>
              </a:rPr>
              <a:t>Alex would be able to detect anomalies earlier, identify the root cause faster, and reduce troubleshooting effort and downtime.</a:t>
            </a:r>
            <a:endParaRPr lang="en-IN" sz="1100" b="1">
              <a:solidFill>
                <a:srgbClr val="FBB034"/>
              </a:solidFill>
              <a:latin typeface="Nunito"/>
              <a:ea typeface="Nunito"/>
              <a:cs typeface="Nunito"/>
            </a:endParaRPr>
          </a:p>
          <a:p>
            <a:pPr lvl="0"/>
            <a:r>
              <a:rPr lang="en-IN" sz="1100" dirty="0"/>
              <a:t> </a:t>
            </a:r>
          </a:p>
          <a:p>
            <a:endParaRPr lang="en-IN" sz="1100" dirty="0">
              <a:solidFill>
                <a:srgbClr val="FBB0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32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B8944-6F5D-04F0-8E86-ED2E9A6B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23AF1D-7CF0-74E5-6287-3167C88A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A017E-39E5-A093-1AFD-E5C52C547B9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20D80A-26CA-3019-9312-4CE42BB0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33" y="148243"/>
            <a:ext cx="8651153" cy="553027"/>
          </a:xfrm>
        </p:spPr>
        <p:txBody>
          <a:bodyPr/>
          <a:lstStyle/>
          <a:p>
            <a:r>
              <a:rPr lang="en-US" sz="3200"/>
              <a:t>System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4C20FD-7C89-4659-3EB2-9AFD097A0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22" y="496527"/>
            <a:ext cx="8300890" cy="415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5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A879-5179-8539-D879-1FD5F2AEE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3B5C4C-711B-2C16-76AA-B0BE3AC58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90" y="893775"/>
            <a:ext cx="4267335" cy="3767290"/>
          </a:xfrm>
        </p:spPr>
        <p:txBody>
          <a:bodyPr vert="horz" lIns="91440" tIns="45720" rIns="91440" bIns="45720" rtlCol="0">
            <a:normAutofit/>
          </a:bodyPr>
          <a:lstStyle/>
          <a:p>
            <a:pPr marL="227965" indent="-227965"/>
            <a:r>
              <a:rPr lang="en-IN" b="1" dirty="0">
                <a:solidFill>
                  <a:srgbClr val="FBB034"/>
                </a:solidFill>
              </a:rPr>
              <a:t>Mininet</a:t>
            </a:r>
            <a:r>
              <a:rPr lang="en-IN" b="1" dirty="0">
                <a:solidFill>
                  <a:schemeClr val="accent3"/>
                </a:solidFill>
              </a:rPr>
              <a:t>:</a:t>
            </a:r>
            <a:r>
              <a:rPr lang="en-IN" dirty="0"/>
              <a:t> Emulates wired topology, hosting virtual endpoints  (h1, h2) and </a:t>
            </a:r>
            <a:r>
              <a:rPr lang="en-IN" dirty="0" err="1"/>
              <a:t>OpenvSwitch</a:t>
            </a:r>
            <a:r>
              <a:rPr lang="en-IN" dirty="0"/>
              <a:t> instances (sw1, sw2)</a:t>
            </a:r>
            <a:endParaRPr lang="en-IN" dirty="0">
              <a:ea typeface="Calibri Light"/>
              <a:cs typeface="Calibri Light"/>
            </a:endParaRPr>
          </a:p>
          <a:p>
            <a:pPr marL="227965" indent="-227965"/>
            <a:r>
              <a:rPr lang="en-IN" b="1" dirty="0">
                <a:solidFill>
                  <a:schemeClr val="accent3"/>
                </a:solidFill>
                <a:ea typeface="Calibri Light"/>
                <a:cs typeface="Calibri Light"/>
              </a:rPr>
              <a:t>Ns-3: </a:t>
            </a:r>
            <a:r>
              <a:rPr lang="en-IN" dirty="0">
                <a:ea typeface="Calibri Light"/>
                <a:cs typeface="Calibri Light"/>
              </a:rPr>
              <a:t>Simulates 802.11g wireless network (AP, STAs) &amp; executes wireless fault injections.</a:t>
            </a:r>
          </a:p>
          <a:p>
            <a:pPr marL="227965" indent="-227965"/>
            <a:r>
              <a:rPr lang="en-IN" b="1" dirty="0">
                <a:solidFill>
                  <a:schemeClr val="accent3"/>
                </a:solidFill>
                <a:ea typeface="Calibri Light"/>
                <a:cs typeface="Calibri Light"/>
              </a:rPr>
              <a:t>Ryu-SDN Controller:</a:t>
            </a:r>
            <a:r>
              <a:rPr lang="en-IN" dirty="0">
                <a:solidFill>
                  <a:srgbClr val="FFFFFF"/>
                </a:solidFill>
                <a:ea typeface="Calibri Light"/>
                <a:cs typeface="Calibri Light"/>
              </a:rPr>
              <a:t> Centralized control plane executing Layer2 learning switch logic and managing forwarding state.</a:t>
            </a:r>
          </a:p>
          <a:p>
            <a:pPr marL="227965" indent="-227965"/>
            <a:r>
              <a:rPr lang="en-IN" b="1" dirty="0">
                <a:solidFill>
                  <a:schemeClr val="accent3"/>
                </a:solidFill>
                <a:ea typeface="Calibri Light"/>
                <a:cs typeface="Calibri Light"/>
              </a:rPr>
              <a:t>OpenFlow(v1.3):</a:t>
            </a:r>
            <a:r>
              <a:rPr lang="en-IN" dirty="0">
                <a:solidFill>
                  <a:srgbClr val="FFFFFF"/>
                </a:solidFill>
                <a:ea typeface="Calibri Light"/>
                <a:cs typeface="Calibri Light"/>
              </a:rPr>
              <a:t> Southbound protocol, installing dynamic flow match rules from Ryu down into switches.</a:t>
            </a:r>
          </a:p>
          <a:p>
            <a:pPr marL="227965" indent="-227965"/>
            <a:r>
              <a:rPr lang="en-IN" b="1" dirty="0">
                <a:solidFill>
                  <a:schemeClr val="accent3"/>
                </a:solidFill>
                <a:ea typeface="Calibri Light"/>
                <a:cs typeface="Calibri Light"/>
              </a:rPr>
              <a:t>Linux TAP &amp; </a:t>
            </a:r>
            <a:r>
              <a:rPr lang="en-IN" b="1" dirty="0" err="1">
                <a:solidFill>
                  <a:schemeClr val="accent3"/>
                </a:solidFill>
                <a:ea typeface="Calibri Light"/>
                <a:cs typeface="Calibri Light"/>
              </a:rPr>
              <a:t>TapBridge</a:t>
            </a:r>
            <a:r>
              <a:rPr lang="en-IN" b="1" dirty="0">
                <a:solidFill>
                  <a:schemeClr val="accent3"/>
                </a:solidFill>
                <a:ea typeface="Calibri Light"/>
                <a:cs typeface="Calibri Light"/>
              </a:rPr>
              <a:t>:</a:t>
            </a:r>
            <a:r>
              <a:rPr lang="en-IN" dirty="0">
                <a:solidFill>
                  <a:srgbClr val="FFFFFF"/>
                </a:solidFill>
                <a:ea typeface="Calibri Light"/>
                <a:cs typeface="Calibri Light"/>
              </a:rPr>
              <a:t> Bridges Mininet OVS bridge to Wi-Fi stack via </a:t>
            </a:r>
            <a:r>
              <a:rPr lang="en-IN" b="1" dirty="0">
                <a:solidFill>
                  <a:srgbClr val="FFFFFF"/>
                </a:solidFill>
                <a:ea typeface="Calibri Light"/>
                <a:cs typeface="Calibri Light"/>
              </a:rPr>
              <a:t>tap0</a:t>
            </a:r>
            <a:r>
              <a:rPr lang="en-IN" dirty="0">
                <a:solidFill>
                  <a:srgbClr val="FFFFFF"/>
                </a:solidFill>
                <a:ea typeface="Calibri Light"/>
                <a:cs typeface="Calibri Light"/>
              </a:rPr>
              <a:t> in </a:t>
            </a:r>
            <a:r>
              <a:rPr lang="en-IN" b="1" dirty="0" err="1">
                <a:solidFill>
                  <a:srgbClr val="FFFFFF"/>
                </a:solidFill>
                <a:ea typeface="Calibri Light"/>
                <a:cs typeface="Calibri Light"/>
              </a:rPr>
              <a:t>UseBridge</a:t>
            </a:r>
            <a:r>
              <a:rPr lang="en-IN" dirty="0">
                <a:solidFill>
                  <a:srgbClr val="FFFFFF"/>
                </a:solidFill>
                <a:ea typeface="Calibri Light"/>
                <a:cs typeface="Calibri Light"/>
              </a:rPr>
              <a:t> mode, for cross layer telemetry collection.</a:t>
            </a:r>
          </a:p>
          <a:p>
            <a:pPr marL="227965" indent="-227965"/>
            <a:endParaRPr lang="en-IN" b="1" dirty="0">
              <a:solidFill>
                <a:srgbClr val="FFFFFF"/>
              </a:solidFill>
              <a:ea typeface="Calibri Light"/>
              <a:cs typeface="Calibr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D94753-C623-6C04-0D10-E9EE7B045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31E4E-164B-3423-8BB3-35BB9EA33A3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57A6C5-0616-1F39-43B5-7CF07735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89" y="231469"/>
            <a:ext cx="8651153" cy="553027"/>
          </a:xfrm>
        </p:spPr>
        <p:txBody>
          <a:bodyPr/>
          <a:lstStyle/>
          <a:p>
            <a:r>
              <a:rPr lang="en-IN" sz="3200" dirty="0"/>
              <a:t>Tools Used &amp; Topology</a:t>
            </a:r>
            <a:endParaRPr lang="en-US" sz="3200"/>
          </a:p>
        </p:txBody>
      </p:sp>
      <p:pic>
        <p:nvPicPr>
          <p:cNvPr id="6" name="Content Placeholder 16">
            <a:extLst>
              <a:ext uri="{FF2B5EF4-FFF2-40B4-BE49-F238E27FC236}">
                <a16:creationId xmlns:a16="http://schemas.microsoft.com/office/drawing/2014/main" id="{1EDA0927-E912-FF5E-DB83-738508CBC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10" y="231469"/>
            <a:ext cx="3922622" cy="435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3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D0670-CE99-95C7-34CC-0CA3956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5AB48D-4F98-E7B9-4F1F-19ADA368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4932C-CA3A-EE22-B954-36C03C7844C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A3F52C-56C7-9A3C-E945-4574C8DE9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84" y="163836"/>
            <a:ext cx="8651153" cy="553027"/>
          </a:xfrm>
        </p:spPr>
        <p:txBody>
          <a:bodyPr/>
          <a:lstStyle/>
          <a:p>
            <a:r>
              <a:rPr lang="en-IN" sz="3200" dirty="0"/>
              <a:t>Fault Scenarios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87C4CF-2B0E-1DB6-7B84-BD6912988786}"/>
              </a:ext>
            </a:extLst>
          </p:cNvPr>
          <p:cNvSpPr txBox="1"/>
          <p:nvPr/>
        </p:nvSpPr>
        <p:spPr>
          <a:xfrm>
            <a:off x="1015121" y="1675315"/>
            <a:ext cx="45719" cy="4571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8D2975-A4EE-25EE-F79D-0479A1B57F9A}"/>
              </a:ext>
            </a:extLst>
          </p:cNvPr>
          <p:cNvSpPr/>
          <p:nvPr/>
        </p:nvSpPr>
        <p:spPr>
          <a:xfrm rot="17004601">
            <a:off x="1717956" y="2920999"/>
            <a:ext cx="653752" cy="503370"/>
          </a:xfrm>
          <a:prstGeom prst="ellipse">
            <a:avLst/>
          </a:prstGeom>
          <a:solidFill>
            <a:srgbClr val="FBB034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F100737-80D9-AC82-72F5-F1E54F477754}"/>
              </a:ext>
            </a:extLst>
          </p:cNvPr>
          <p:cNvSpPr/>
          <p:nvPr/>
        </p:nvSpPr>
        <p:spPr>
          <a:xfrm>
            <a:off x="287278" y="666088"/>
            <a:ext cx="1818152" cy="3067140"/>
          </a:xfrm>
          <a:custGeom>
            <a:avLst/>
            <a:gdLst>
              <a:gd name="csX0" fmla="*/ 1604960 w 1604959"/>
              <a:gd name="csY0" fmla="*/ 289197 h 2406373"/>
              <a:gd name="csX1" fmla="*/ 1315763 w 1604959"/>
              <a:gd name="csY1" fmla="*/ 0 h 2406373"/>
              <a:gd name="csX2" fmla="*/ 289197 w 1604959"/>
              <a:gd name="csY2" fmla="*/ 0 h 2406373"/>
              <a:gd name="csX3" fmla="*/ 0 w 1604959"/>
              <a:gd name="csY3" fmla="*/ 289197 h 2406373"/>
              <a:gd name="csX4" fmla="*/ 0 w 1604959"/>
              <a:gd name="csY4" fmla="*/ 1809772 h 2406373"/>
              <a:gd name="csX5" fmla="*/ 289197 w 1604959"/>
              <a:gd name="csY5" fmla="*/ 2098969 h 2406373"/>
              <a:gd name="csX6" fmla="*/ 558427 w 1604959"/>
              <a:gd name="csY6" fmla="*/ 2098969 h 2406373"/>
              <a:gd name="csX7" fmla="*/ 591704 w 1604959"/>
              <a:gd name="csY7" fmla="*/ 2117177 h 2406373"/>
              <a:gd name="csX8" fmla="*/ 762610 w 1604959"/>
              <a:gd name="csY8" fmla="*/ 2384524 h 2406373"/>
              <a:gd name="csX9" fmla="*/ 842224 w 1604959"/>
              <a:gd name="csY9" fmla="*/ 2384524 h 2406373"/>
              <a:gd name="csX10" fmla="*/ 1013130 w 1604959"/>
              <a:gd name="csY10" fmla="*/ 2117177 h 2406373"/>
              <a:gd name="csX11" fmla="*/ 1046407 w 1604959"/>
              <a:gd name="csY11" fmla="*/ 2098969 h 2406373"/>
              <a:gd name="csX12" fmla="*/ 1315638 w 1604959"/>
              <a:gd name="csY12" fmla="*/ 2098969 h 2406373"/>
              <a:gd name="csX13" fmla="*/ 1604834 w 1604959"/>
              <a:gd name="csY13" fmla="*/ 1809772 h 2406373"/>
              <a:gd name="csX14" fmla="*/ 1604834 w 1604959"/>
              <a:gd name="csY14" fmla="*/ 1043394 h 2406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04959" h="2406373">
                <a:moveTo>
                  <a:pt x="1604960" y="289197"/>
                </a:moveTo>
                <a:cubicBezTo>
                  <a:pt x="1604960" y="130095"/>
                  <a:pt x="1474865" y="0"/>
                  <a:pt x="1315763" y="0"/>
                </a:cubicBezTo>
                <a:lnTo>
                  <a:pt x="289197" y="0"/>
                </a:lnTo>
                <a:cubicBezTo>
                  <a:pt x="130220" y="0"/>
                  <a:pt x="0" y="130220"/>
                  <a:pt x="0" y="289197"/>
                </a:cubicBezTo>
                <a:lnTo>
                  <a:pt x="0" y="1809772"/>
                </a:lnTo>
                <a:cubicBezTo>
                  <a:pt x="0" y="1968874"/>
                  <a:pt x="130095" y="2098969"/>
                  <a:pt x="289197" y="2098969"/>
                </a:cubicBezTo>
                <a:lnTo>
                  <a:pt x="558427" y="2098969"/>
                </a:lnTo>
                <a:cubicBezTo>
                  <a:pt x="571863" y="2098969"/>
                  <a:pt x="584421" y="2105875"/>
                  <a:pt x="591704" y="2117177"/>
                </a:cubicBezTo>
                <a:lnTo>
                  <a:pt x="762610" y="2384524"/>
                </a:lnTo>
                <a:cubicBezTo>
                  <a:pt x="781195" y="2413657"/>
                  <a:pt x="823639" y="2413657"/>
                  <a:pt x="842224" y="2384524"/>
                </a:cubicBezTo>
                <a:lnTo>
                  <a:pt x="1013130" y="2117177"/>
                </a:lnTo>
                <a:cubicBezTo>
                  <a:pt x="1020413" y="2105749"/>
                  <a:pt x="1032971" y="2098969"/>
                  <a:pt x="1046407" y="2098969"/>
                </a:cubicBezTo>
                <a:lnTo>
                  <a:pt x="1315638" y="2098969"/>
                </a:lnTo>
                <a:cubicBezTo>
                  <a:pt x="1474740" y="2098969"/>
                  <a:pt x="1604834" y="1968874"/>
                  <a:pt x="1604834" y="1809772"/>
                </a:cubicBezTo>
                <a:lnTo>
                  <a:pt x="1604834" y="1043394"/>
                </a:lnTo>
              </a:path>
            </a:pathLst>
          </a:custGeom>
          <a:noFill/>
          <a:ln w="16919" cap="rnd">
            <a:solidFill>
              <a:schemeClr val="bg1">
                <a:lumMod val="95000"/>
              </a:scheme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D30669-11D7-5524-3A34-D4D3E8CEB81E}"/>
              </a:ext>
            </a:extLst>
          </p:cNvPr>
          <p:cNvSpPr txBox="1"/>
          <p:nvPr/>
        </p:nvSpPr>
        <p:spPr>
          <a:xfrm>
            <a:off x="423108" y="701255"/>
            <a:ext cx="1571844" cy="2471429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>
              <a:spcBef>
                <a:spcPts val="300"/>
              </a:spcBef>
            </a:pPr>
            <a:r>
              <a:rPr lang="en-US" sz="1600" b="1" dirty="0">
                <a:solidFill>
                  <a:schemeClr val="accent3"/>
                </a:solidFill>
              </a:rPr>
              <a:t>Limited Bandwidth</a:t>
            </a:r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Generates a continuous 54 Mbps UDP flood using large 1024-byte packets.</a:t>
            </a:r>
          </a:p>
          <a:p>
            <a:pPr>
              <a:spcBef>
                <a:spcPts val="300"/>
              </a:spcBef>
            </a:pPr>
            <a:endParaRPr lang="en-US" sz="11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This Uplink DoS exhausts the 802.11g channel capacity, forcing the Access Point's transmission queues to overflow.</a:t>
            </a:r>
            <a:endParaRPr lang="en-US" sz="1100" dirty="0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D5635D4-946B-98FA-1232-55AB27DE9352}"/>
              </a:ext>
            </a:extLst>
          </p:cNvPr>
          <p:cNvSpPr txBox="1"/>
          <p:nvPr/>
        </p:nvSpPr>
        <p:spPr>
          <a:xfrm>
            <a:off x="818147" y="18494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8C04C19-11FD-C6E7-604B-5C231DCC8CF9}"/>
              </a:ext>
            </a:extLst>
          </p:cNvPr>
          <p:cNvSpPr txBox="1"/>
          <p:nvPr/>
        </p:nvSpPr>
        <p:spPr>
          <a:xfrm>
            <a:off x="3268278" y="1675315"/>
            <a:ext cx="45719" cy="4571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1CCFCB2-2FA1-CD8D-5148-254F4E871E18}"/>
              </a:ext>
            </a:extLst>
          </p:cNvPr>
          <p:cNvSpPr/>
          <p:nvPr/>
        </p:nvSpPr>
        <p:spPr>
          <a:xfrm rot="17004601">
            <a:off x="3938455" y="2920996"/>
            <a:ext cx="653752" cy="503370"/>
          </a:xfrm>
          <a:prstGeom prst="ellipse">
            <a:avLst/>
          </a:prstGeom>
          <a:solidFill>
            <a:srgbClr val="0070C0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0B2811A7-1276-0204-A4E4-02E437835273}"/>
              </a:ext>
            </a:extLst>
          </p:cNvPr>
          <p:cNvSpPr/>
          <p:nvPr/>
        </p:nvSpPr>
        <p:spPr>
          <a:xfrm>
            <a:off x="2472509" y="665898"/>
            <a:ext cx="1840419" cy="3067140"/>
          </a:xfrm>
          <a:custGeom>
            <a:avLst/>
            <a:gdLst>
              <a:gd name="csX0" fmla="*/ 1604960 w 1604959"/>
              <a:gd name="csY0" fmla="*/ 289197 h 2406373"/>
              <a:gd name="csX1" fmla="*/ 1315763 w 1604959"/>
              <a:gd name="csY1" fmla="*/ 0 h 2406373"/>
              <a:gd name="csX2" fmla="*/ 289197 w 1604959"/>
              <a:gd name="csY2" fmla="*/ 0 h 2406373"/>
              <a:gd name="csX3" fmla="*/ 0 w 1604959"/>
              <a:gd name="csY3" fmla="*/ 289197 h 2406373"/>
              <a:gd name="csX4" fmla="*/ 0 w 1604959"/>
              <a:gd name="csY4" fmla="*/ 1809772 h 2406373"/>
              <a:gd name="csX5" fmla="*/ 289197 w 1604959"/>
              <a:gd name="csY5" fmla="*/ 2098969 h 2406373"/>
              <a:gd name="csX6" fmla="*/ 558427 w 1604959"/>
              <a:gd name="csY6" fmla="*/ 2098969 h 2406373"/>
              <a:gd name="csX7" fmla="*/ 591704 w 1604959"/>
              <a:gd name="csY7" fmla="*/ 2117177 h 2406373"/>
              <a:gd name="csX8" fmla="*/ 762610 w 1604959"/>
              <a:gd name="csY8" fmla="*/ 2384524 h 2406373"/>
              <a:gd name="csX9" fmla="*/ 842224 w 1604959"/>
              <a:gd name="csY9" fmla="*/ 2384524 h 2406373"/>
              <a:gd name="csX10" fmla="*/ 1013130 w 1604959"/>
              <a:gd name="csY10" fmla="*/ 2117177 h 2406373"/>
              <a:gd name="csX11" fmla="*/ 1046407 w 1604959"/>
              <a:gd name="csY11" fmla="*/ 2098969 h 2406373"/>
              <a:gd name="csX12" fmla="*/ 1315638 w 1604959"/>
              <a:gd name="csY12" fmla="*/ 2098969 h 2406373"/>
              <a:gd name="csX13" fmla="*/ 1604834 w 1604959"/>
              <a:gd name="csY13" fmla="*/ 1809772 h 2406373"/>
              <a:gd name="csX14" fmla="*/ 1604834 w 1604959"/>
              <a:gd name="csY14" fmla="*/ 1043394 h 2406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04959" h="2406373">
                <a:moveTo>
                  <a:pt x="1604960" y="289197"/>
                </a:moveTo>
                <a:cubicBezTo>
                  <a:pt x="1604960" y="130095"/>
                  <a:pt x="1474865" y="0"/>
                  <a:pt x="1315763" y="0"/>
                </a:cubicBezTo>
                <a:lnTo>
                  <a:pt x="289197" y="0"/>
                </a:lnTo>
                <a:cubicBezTo>
                  <a:pt x="130220" y="0"/>
                  <a:pt x="0" y="130220"/>
                  <a:pt x="0" y="289197"/>
                </a:cubicBezTo>
                <a:lnTo>
                  <a:pt x="0" y="1809772"/>
                </a:lnTo>
                <a:cubicBezTo>
                  <a:pt x="0" y="1968874"/>
                  <a:pt x="130095" y="2098969"/>
                  <a:pt x="289197" y="2098969"/>
                </a:cubicBezTo>
                <a:lnTo>
                  <a:pt x="558427" y="2098969"/>
                </a:lnTo>
                <a:cubicBezTo>
                  <a:pt x="571863" y="2098969"/>
                  <a:pt x="584421" y="2105875"/>
                  <a:pt x="591704" y="2117177"/>
                </a:cubicBezTo>
                <a:lnTo>
                  <a:pt x="762610" y="2384524"/>
                </a:lnTo>
                <a:cubicBezTo>
                  <a:pt x="781195" y="2413657"/>
                  <a:pt x="823639" y="2413657"/>
                  <a:pt x="842224" y="2384524"/>
                </a:cubicBezTo>
                <a:lnTo>
                  <a:pt x="1013130" y="2117177"/>
                </a:lnTo>
                <a:cubicBezTo>
                  <a:pt x="1020413" y="2105749"/>
                  <a:pt x="1032971" y="2098969"/>
                  <a:pt x="1046407" y="2098969"/>
                </a:cubicBezTo>
                <a:lnTo>
                  <a:pt x="1315638" y="2098969"/>
                </a:lnTo>
                <a:cubicBezTo>
                  <a:pt x="1474740" y="2098969"/>
                  <a:pt x="1604834" y="1968874"/>
                  <a:pt x="1604834" y="1809772"/>
                </a:cubicBezTo>
                <a:lnTo>
                  <a:pt x="1604834" y="1043394"/>
                </a:lnTo>
              </a:path>
            </a:pathLst>
          </a:custGeom>
          <a:noFill/>
          <a:ln w="16919" cap="rnd">
            <a:solidFill>
              <a:schemeClr val="bg1">
                <a:lumMod val="95000"/>
              </a:scheme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F5102C6-0D17-E769-3B5E-5FE0611D0375}"/>
              </a:ext>
            </a:extLst>
          </p:cNvPr>
          <p:cNvSpPr txBox="1"/>
          <p:nvPr/>
        </p:nvSpPr>
        <p:spPr>
          <a:xfrm>
            <a:off x="2540995" y="711769"/>
            <a:ext cx="1631222" cy="2308143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>
              <a:spcBef>
                <a:spcPts val="300"/>
              </a:spcBef>
            </a:pPr>
            <a:r>
              <a:rPr lang="en-US" sz="1600" b="1" dirty="0">
                <a:solidFill>
                  <a:schemeClr val="accent1"/>
                </a:solidFill>
              </a:rPr>
              <a:t>Hidden Node Collisions</a:t>
            </a:r>
            <a:endParaRPr lang="en-US" sz="1600" b="1" dirty="0">
              <a:solidFill>
                <a:schemeClr val="accent1"/>
              </a:solidFill>
              <a:ea typeface="Calibri Light"/>
              <a:cs typeface="Calibri Light"/>
            </a:endParaRPr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  <a:ea typeface="Calibri Light"/>
                <a:cs typeface="Calibri Light"/>
              </a:rPr>
              <a:t>STA 1 and  STA 2 Nodes are physically separated so that their carrier sense mechanisms cannot detect each other. </a:t>
            </a:r>
            <a:endParaRPr lang="en-US" sz="900" dirty="0">
              <a:solidFill>
                <a:schemeClr val="bg1"/>
              </a:solidFill>
              <a:ea typeface="Calibri Light"/>
              <a:cs typeface="Calibri Light"/>
            </a:endParaRPr>
          </a:p>
          <a:p>
            <a:pPr>
              <a:spcBef>
                <a:spcPts val="300"/>
              </a:spcBef>
            </a:pPr>
            <a:endParaRPr lang="en-US" sz="800" dirty="0">
              <a:solidFill>
                <a:schemeClr val="bg1"/>
              </a:solidFill>
              <a:ea typeface="Calibri Light"/>
              <a:cs typeface="Calibri Light"/>
            </a:endParaRPr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  <a:ea typeface="Calibri Light"/>
                <a:cs typeface="Calibri Light"/>
              </a:rPr>
              <a:t>Simultaneous transmissions physically collide at the Access point antenna, destroying the packets.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7AEE789-1F53-3095-75FD-76831AA5D778}"/>
              </a:ext>
            </a:extLst>
          </p:cNvPr>
          <p:cNvSpPr txBox="1"/>
          <p:nvPr/>
        </p:nvSpPr>
        <p:spPr>
          <a:xfrm>
            <a:off x="3071304" y="18494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B52AF36-A5A5-42FD-9406-0C6AF38A3366}"/>
              </a:ext>
            </a:extLst>
          </p:cNvPr>
          <p:cNvSpPr txBox="1"/>
          <p:nvPr/>
        </p:nvSpPr>
        <p:spPr>
          <a:xfrm>
            <a:off x="5520806" y="1675315"/>
            <a:ext cx="45719" cy="4571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8EEFF44-963E-A9E5-6421-DBDF8D7D8862}"/>
              </a:ext>
            </a:extLst>
          </p:cNvPr>
          <p:cNvSpPr/>
          <p:nvPr/>
        </p:nvSpPr>
        <p:spPr>
          <a:xfrm rot="17004601">
            <a:off x="6163715" y="2920994"/>
            <a:ext cx="653752" cy="503370"/>
          </a:xfrm>
          <a:prstGeom prst="ellipse">
            <a:avLst/>
          </a:prstGeom>
          <a:solidFill>
            <a:srgbClr val="00B050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404ED34A-1583-DCBC-E1C6-5CFCF123803C}"/>
              </a:ext>
            </a:extLst>
          </p:cNvPr>
          <p:cNvSpPr/>
          <p:nvPr/>
        </p:nvSpPr>
        <p:spPr>
          <a:xfrm>
            <a:off x="4637100" y="664489"/>
            <a:ext cx="1892372" cy="3067141"/>
          </a:xfrm>
          <a:custGeom>
            <a:avLst/>
            <a:gdLst>
              <a:gd name="csX0" fmla="*/ 1604960 w 1604959"/>
              <a:gd name="csY0" fmla="*/ 289197 h 2406373"/>
              <a:gd name="csX1" fmla="*/ 1315763 w 1604959"/>
              <a:gd name="csY1" fmla="*/ 0 h 2406373"/>
              <a:gd name="csX2" fmla="*/ 289197 w 1604959"/>
              <a:gd name="csY2" fmla="*/ 0 h 2406373"/>
              <a:gd name="csX3" fmla="*/ 0 w 1604959"/>
              <a:gd name="csY3" fmla="*/ 289197 h 2406373"/>
              <a:gd name="csX4" fmla="*/ 0 w 1604959"/>
              <a:gd name="csY4" fmla="*/ 1809772 h 2406373"/>
              <a:gd name="csX5" fmla="*/ 289197 w 1604959"/>
              <a:gd name="csY5" fmla="*/ 2098969 h 2406373"/>
              <a:gd name="csX6" fmla="*/ 558427 w 1604959"/>
              <a:gd name="csY6" fmla="*/ 2098969 h 2406373"/>
              <a:gd name="csX7" fmla="*/ 591704 w 1604959"/>
              <a:gd name="csY7" fmla="*/ 2117177 h 2406373"/>
              <a:gd name="csX8" fmla="*/ 762610 w 1604959"/>
              <a:gd name="csY8" fmla="*/ 2384524 h 2406373"/>
              <a:gd name="csX9" fmla="*/ 842224 w 1604959"/>
              <a:gd name="csY9" fmla="*/ 2384524 h 2406373"/>
              <a:gd name="csX10" fmla="*/ 1013130 w 1604959"/>
              <a:gd name="csY10" fmla="*/ 2117177 h 2406373"/>
              <a:gd name="csX11" fmla="*/ 1046407 w 1604959"/>
              <a:gd name="csY11" fmla="*/ 2098969 h 2406373"/>
              <a:gd name="csX12" fmla="*/ 1315638 w 1604959"/>
              <a:gd name="csY12" fmla="*/ 2098969 h 2406373"/>
              <a:gd name="csX13" fmla="*/ 1604834 w 1604959"/>
              <a:gd name="csY13" fmla="*/ 1809772 h 2406373"/>
              <a:gd name="csX14" fmla="*/ 1604834 w 1604959"/>
              <a:gd name="csY14" fmla="*/ 1043394 h 2406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04959" h="2406373">
                <a:moveTo>
                  <a:pt x="1604960" y="289197"/>
                </a:moveTo>
                <a:cubicBezTo>
                  <a:pt x="1604960" y="130095"/>
                  <a:pt x="1474865" y="0"/>
                  <a:pt x="1315763" y="0"/>
                </a:cubicBezTo>
                <a:lnTo>
                  <a:pt x="289197" y="0"/>
                </a:lnTo>
                <a:cubicBezTo>
                  <a:pt x="130220" y="0"/>
                  <a:pt x="0" y="130220"/>
                  <a:pt x="0" y="289197"/>
                </a:cubicBezTo>
                <a:lnTo>
                  <a:pt x="0" y="1809772"/>
                </a:lnTo>
                <a:cubicBezTo>
                  <a:pt x="0" y="1968874"/>
                  <a:pt x="130095" y="2098969"/>
                  <a:pt x="289197" y="2098969"/>
                </a:cubicBezTo>
                <a:lnTo>
                  <a:pt x="558427" y="2098969"/>
                </a:lnTo>
                <a:cubicBezTo>
                  <a:pt x="571863" y="2098969"/>
                  <a:pt x="584421" y="2105875"/>
                  <a:pt x="591704" y="2117177"/>
                </a:cubicBezTo>
                <a:lnTo>
                  <a:pt x="762610" y="2384524"/>
                </a:lnTo>
                <a:cubicBezTo>
                  <a:pt x="781195" y="2413657"/>
                  <a:pt x="823639" y="2413657"/>
                  <a:pt x="842224" y="2384524"/>
                </a:cubicBezTo>
                <a:lnTo>
                  <a:pt x="1013130" y="2117177"/>
                </a:lnTo>
                <a:cubicBezTo>
                  <a:pt x="1020413" y="2105749"/>
                  <a:pt x="1032971" y="2098969"/>
                  <a:pt x="1046407" y="2098969"/>
                </a:cubicBezTo>
                <a:lnTo>
                  <a:pt x="1315638" y="2098969"/>
                </a:lnTo>
                <a:cubicBezTo>
                  <a:pt x="1474740" y="2098969"/>
                  <a:pt x="1604834" y="1968874"/>
                  <a:pt x="1604834" y="1809772"/>
                </a:cubicBezTo>
                <a:lnTo>
                  <a:pt x="1604834" y="1043394"/>
                </a:lnTo>
              </a:path>
            </a:pathLst>
          </a:custGeom>
          <a:noFill/>
          <a:ln w="16919" cap="rnd">
            <a:solidFill>
              <a:schemeClr val="bg1">
                <a:lumMod val="95000"/>
              </a:scheme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C33909D-88FA-FD85-B8D8-60E8542F5443}"/>
              </a:ext>
            </a:extLst>
          </p:cNvPr>
          <p:cNvSpPr txBox="1"/>
          <p:nvPr/>
        </p:nvSpPr>
        <p:spPr>
          <a:xfrm>
            <a:off x="4786231" y="769237"/>
            <a:ext cx="1594109" cy="247143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>
              <a:spcBef>
                <a:spcPts val="300"/>
              </a:spcBef>
            </a:pPr>
            <a:r>
              <a:rPr lang="en-US" sz="1600" b="1" dirty="0">
                <a:solidFill>
                  <a:schemeClr val="accent2"/>
                </a:solidFill>
              </a:rPr>
              <a:t>Physical Link Degradation</a:t>
            </a:r>
            <a:endParaRPr lang="en-US" sz="1600" b="1" dirty="0">
              <a:solidFill>
                <a:schemeClr val="accent2"/>
              </a:solidFill>
              <a:ea typeface="Calibri Light"/>
              <a:cs typeface="Calibri Light"/>
            </a:endParaRPr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  <a:ea typeface="Calibri Light"/>
                <a:cs typeface="Calibri Light"/>
              </a:rPr>
              <a:t>Manipulates node coordinates to mid simulation to force a 150-meter separation.</a:t>
            </a:r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  <a:ea typeface="Calibri Light"/>
                <a:cs typeface="Calibri Light"/>
              </a:rPr>
              <a:t> </a:t>
            </a:r>
          </a:p>
          <a:p>
            <a:pPr>
              <a:spcBef>
                <a:spcPts val="300"/>
              </a:spcBef>
            </a:pPr>
            <a:r>
              <a:rPr lang="en-US" sz="1100" dirty="0">
                <a:solidFill>
                  <a:schemeClr val="bg1"/>
                </a:solidFill>
                <a:ea typeface="Calibri Light"/>
                <a:cs typeface="Calibri Light"/>
              </a:rPr>
              <a:t>This abruptly drops the Signal-to-Noise Ratio (SNR), causing MAC frame drops and total loss of Wi-Fi association. 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67FF6CF-EFEB-CDE2-A32C-679E47BE4670}"/>
              </a:ext>
            </a:extLst>
          </p:cNvPr>
          <p:cNvSpPr txBox="1"/>
          <p:nvPr/>
        </p:nvSpPr>
        <p:spPr>
          <a:xfrm>
            <a:off x="5323832" y="18494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AB762EF-28D6-556B-B417-A7F09A54FFF5}"/>
              </a:ext>
            </a:extLst>
          </p:cNvPr>
          <p:cNvSpPr txBox="1"/>
          <p:nvPr/>
        </p:nvSpPr>
        <p:spPr>
          <a:xfrm>
            <a:off x="7706408" y="1675315"/>
            <a:ext cx="45719" cy="4571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CF2E19B5-7668-E695-5F37-EA1E16AC96EF}"/>
              </a:ext>
            </a:extLst>
          </p:cNvPr>
          <p:cNvSpPr/>
          <p:nvPr/>
        </p:nvSpPr>
        <p:spPr>
          <a:xfrm rot="17004601">
            <a:off x="8364592" y="2920992"/>
            <a:ext cx="653752" cy="503370"/>
          </a:xfrm>
          <a:prstGeom prst="ellipse">
            <a:avLst/>
          </a:prstGeom>
          <a:solidFill>
            <a:srgbClr val="FF0000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C42B05DC-C71A-4263-A055-A6B5D48ACD1B}"/>
              </a:ext>
            </a:extLst>
          </p:cNvPr>
          <p:cNvSpPr/>
          <p:nvPr/>
        </p:nvSpPr>
        <p:spPr>
          <a:xfrm>
            <a:off x="6855046" y="664489"/>
            <a:ext cx="1884950" cy="3067141"/>
          </a:xfrm>
          <a:custGeom>
            <a:avLst/>
            <a:gdLst>
              <a:gd name="csX0" fmla="*/ 1604960 w 1604959"/>
              <a:gd name="csY0" fmla="*/ 289197 h 2406373"/>
              <a:gd name="csX1" fmla="*/ 1315763 w 1604959"/>
              <a:gd name="csY1" fmla="*/ 0 h 2406373"/>
              <a:gd name="csX2" fmla="*/ 289197 w 1604959"/>
              <a:gd name="csY2" fmla="*/ 0 h 2406373"/>
              <a:gd name="csX3" fmla="*/ 0 w 1604959"/>
              <a:gd name="csY3" fmla="*/ 289197 h 2406373"/>
              <a:gd name="csX4" fmla="*/ 0 w 1604959"/>
              <a:gd name="csY4" fmla="*/ 1809772 h 2406373"/>
              <a:gd name="csX5" fmla="*/ 289197 w 1604959"/>
              <a:gd name="csY5" fmla="*/ 2098969 h 2406373"/>
              <a:gd name="csX6" fmla="*/ 558427 w 1604959"/>
              <a:gd name="csY6" fmla="*/ 2098969 h 2406373"/>
              <a:gd name="csX7" fmla="*/ 591704 w 1604959"/>
              <a:gd name="csY7" fmla="*/ 2117177 h 2406373"/>
              <a:gd name="csX8" fmla="*/ 762610 w 1604959"/>
              <a:gd name="csY8" fmla="*/ 2384524 h 2406373"/>
              <a:gd name="csX9" fmla="*/ 842224 w 1604959"/>
              <a:gd name="csY9" fmla="*/ 2384524 h 2406373"/>
              <a:gd name="csX10" fmla="*/ 1013130 w 1604959"/>
              <a:gd name="csY10" fmla="*/ 2117177 h 2406373"/>
              <a:gd name="csX11" fmla="*/ 1046407 w 1604959"/>
              <a:gd name="csY11" fmla="*/ 2098969 h 2406373"/>
              <a:gd name="csX12" fmla="*/ 1315638 w 1604959"/>
              <a:gd name="csY12" fmla="*/ 2098969 h 2406373"/>
              <a:gd name="csX13" fmla="*/ 1604834 w 1604959"/>
              <a:gd name="csY13" fmla="*/ 1809772 h 2406373"/>
              <a:gd name="csX14" fmla="*/ 1604834 w 1604959"/>
              <a:gd name="csY14" fmla="*/ 1043394 h 2406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04959" h="2406373">
                <a:moveTo>
                  <a:pt x="1604960" y="289197"/>
                </a:moveTo>
                <a:cubicBezTo>
                  <a:pt x="1604960" y="130095"/>
                  <a:pt x="1474865" y="0"/>
                  <a:pt x="1315763" y="0"/>
                </a:cubicBezTo>
                <a:lnTo>
                  <a:pt x="289197" y="0"/>
                </a:lnTo>
                <a:cubicBezTo>
                  <a:pt x="130220" y="0"/>
                  <a:pt x="0" y="130220"/>
                  <a:pt x="0" y="289197"/>
                </a:cubicBezTo>
                <a:lnTo>
                  <a:pt x="0" y="1809772"/>
                </a:lnTo>
                <a:cubicBezTo>
                  <a:pt x="0" y="1968874"/>
                  <a:pt x="130095" y="2098969"/>
                  <a:pt x="289197" y="2098969"/>
                </a:cubicBezTo>
                <a:lnTo>
                  <a:pt x="558427" y="2098969"/>
                </a:lnTo>
                <a:cubicBezTo>
                  <a:pt x="571863" y="2098969"/>
                  <a:pt x="584421" y="2105875"/>
                  <a:pt x="591704" y="2117177"/>
                </a:cubicBezTo>
                <a:lnTo>
                  <a:pt x="762610" y="2384524"/>
                </a:lnTo>
                <a:cubicBezTo>
                  <a:pt x="781195" y="2413657"/>
                  <a:pt x="823639" y="2413657"/>
                  <a:pt x="842224" y="2384524"/>
                </a:cubicBezTo>
                <a:lnTo>
                  <a:pt x="1013130" y="2117177"/>
                </a:lnTo>
                <a:cubicBezTo>
                  <a:pt x="1020413" y="2105749"/>
                  <a:pt x="1032971" y="2098969"/>
                  <a:pt x="1046407" y="2098969"/>
                </a:cubicBezTo>
                <a:lnTo>
                  <a:pt x="1315638" y="2098969"/>
                </a:lnTo>
                <a:cubicBezTo>
                  <a:pt x="1474740" y="2098969"/>
                  <a:pt x="1604834" y="1968874"/>
                  <a:pt x="1604834" y="1809772"/>
                </a:cubicBezTo>
                <a:lnTo>
                  <a:pt x="1604834" y="1043394"/>
                </a:lnTo>
              </a:path>
            </a:pathLst>
          </a:custGeom>
          <a:noFill/>
          <a:ln w="16919" cap="rnd">
            <a:solidFill>
              <a:schemeClr val="bg1">
                <a:lumMod val="95000"/>
              </a:scheme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E924D9D-8B2E-CF5E-12C8-A8F564DD3D74}"/>
              </a:ext>
            </a:extLst>
          </p:cNvPr>
          <p:cNvSpPr txBox="1"/>
          <p:nvPr/>
        </p:nvSpPr>
        <p:spPr>
          <a:xfrm>
            <a:off x="6984760" y="803585"/>
            <a:ext cx="1534733" cy="2471428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r>
              <a:rPr lang="en-US" sz="1600" b="1" dirty="0">
                <a:solidFill>
                  <a:schemeClr val="accent4"/>
                </a:solidFill>
              </a:rPr>
              <a:t>RF </a:t>
            </a:r>
            <a:endParaRPr lang="en-US" sz="1600" b="1">
              <a:solidFill>
                <a:schemeClr val="accent4"/>
              </a:solidFill>
            </a:endParaRPr>
          </a:p>
          <a:p>
            <a:r>
              <a:rPr lang="en-US" sz="1600" b="1" dirty="0">
                <a:solidFill>
                  <a:schemeClr val="accent4"/>
                </a:solidFill>
              </a:rPr>
              <a:t>Jamming</a:t>
            </a:r>
            <a:endParaRPr lang="en-US" sz="900">
              <a:solidFill>
                <a:schemeClr val="accent4"/>
              </a:solidFill>
              <a:ea typeface="Calibri Light"/>
              <a:cs typeface="Calibri Light"/>
            </a:endParaRPr>
          </a:p>
          <a:p>
            <a:r>
              <a:rPr lang="en-US" sz="1100" dirty="0">
                <a:solidFill>
                  <a:schemeClr val="bg1"/>
                </a:solidFill>
                <a:ea typeface="Calibri Light"/>
                <a:cs typeface="Calibri Light"/>
              </a:rPr>
              <a:t>A rogue node blasts continuous raw radio frequency energy across Wi-Fi Channel 1.</a:t>
            </a:r>
          </a:p>
          <a:p>
            <a:r>
              <a:rPr lang="en-US" sz="1100" dirty="0">
                <a:solidFill>
                  <a:schemeClr val="bg1"/>
                </a:solidFill>
                <a:ea typeface="Calibri Light"/>
                <a:cs typeface="Calibri Light"/>
              </a:rPr>
              <a:t> </a:t>
            </a:r>
          </a:p>
          <a:p>
            <a:r>
              <a:rPr lang="en-US" sz="1100" dirty="0">
                <a:solidFill>
                  <a:schemeClr val="bg1"/>
                </a:solidFill>
                <a:ea typeface="Calibri Light"/>
                <a:cs typeface="Calibri Light"/>
              </a:rPr>
              <a:t>Legitimate nodes sense a busy medium via </a:t>
            </a:r>
            <a:r>
              <a:rPr lang="en-US" sz="1100">
                <a:solidFill>
                  <a:schemeClr val="bg1"/>
                </a:solidFill>
                <a:ea typeface="Calibri Light"/>
                <a:cs typeface="Calibri Light"/>
              </a:rPr>
              <a:t>CSMA</a:t>
            </a:r>
            <a:r>
              <a:rPr lang="en-US" sz="1100" dirty="0">
                <a:solidFill>
                  <a:schemeClr val="bg1"/>
                </a:solidFill>
                <a:ea typeface="Calibri Light"/>
                <a:cs typeface="Calibri Light"/>
              </a:rPr>
              <a:t>/CA and pause transmissions, causing extreme queue delays.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420806E-C158-667A-ED2E-02C21A309FD2}"/>
              </a:ext>
            </a:extLst>
          </p:cNvPr>
          <p:cNvSpPr txBox="1"/>
          <p:nvPr/>
        </p:nvSpPr>
        <p:spPr>
          <a:xfrm>
            <a:off x="7509434" y="18494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F4EA63-D3F0-D01F-A616-E304444D1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756" y="3812174"/>
            <a:ext cx="1832642" cy="7519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B3B126-3C6C-375F-74CE-B64B4192C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48" y="3811508"/>
            <a:ext cx="1821085" cy="761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4E7870-56FE-F548-7CCB-B46B287D5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346" y="3814943"/>
            <a:ext cx="1842787" cy="7472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E32363-AF2E-6B9F-ED53-27C36A71E5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101" y="3811508"/>
            <a:ext cx="1892372" cy="74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7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CCE22-E690-4BF6-948E-B1E1D0CD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C5AD2-E805-C9EC-9ABA-2D4C643F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22FBD-1945-DD03-E911-E056CE08B4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AC1C0C8-F4A0-37D9-30FB-C0CD404CE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89" y="129865"/>
            <a:ext cx="8651153" cy="553027"/>
          </a:xfrm>
        </p:spPr>
        <p:txBody>
          <a:bodyPr/>
          <a:lstStyle/>
          <a:p>
            <a:r>
              <a:rPr lang="en-IN" sz="3200" dirty="0"/>
              <a:t>Methodology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42BB90A-353E-9679-0E89-99B588805BDF}"/>
              </a:ext>
            </a:extLst>
          </p:cNvPr>
          <p:cNvSpPr/>
          <p:nvPr/>
        </p:nvSpPr>
        <p:spPr>
          <a:xfrm>
            <a:off x="283997" y="652379"/>
            <a:ext cx="1777438" cy="3899144"/>
          </a:xfrm>
          <a:prstGeom prst="roundRect">
            <a:avLst>
              <a:gd name="adj" fmla="val 5313"/>
            </a:avLst>
          </a:prstGeom>
          <a:solidFill>
            <a:srgbClr val="121822"/>
          </a:solidFill>
          <a:ln w="635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800E10A3-A995-2115-30AA-EE6965E1EA99}"/>
              </a:ext>
            </a:extLst>
          </p:cNvPr>
          <p:cNvSpPr/>
          <p:nvPr/>
        </p:nvSpPr>
        <p:spPr>
          <a:xfrm>
            <a:off x="459451" y="881318"/>
            <a:ext cx="271216" cy="22473"/>
          </a:xfrm>
          <a:prstGeom prst="roundRect">
            <a:avLst>
              <a:gd name="adj" fmla="val 50000"/>
            </a:avLst>
          </a:prstGeom>
          <a:solidFill>
            <a:srgbClr val="FFB4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A066801-05E4-CEA8-8973-06E61A97EDDD}"/>
              </a:ext>
            </a:extLst>
          </p:cNvPr>
          <p:cNvSpPr/>
          <p:nvPr/>
        </p:nvSpPr>
        <p:spPr>
          <a:xfrm>
            <a:off x="459451" y="993685"/>
            <a:ext cx="1469326" cy="226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FFB4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A27AC98-5D27-4A6C-9BFF-DF5A8F49E3F6}"/>
              </a:ext>
            </a:extLst>
          </p:cNvPr>
          <p:cNvSpPr/>
          <p:nvPr/>
        </p:nvSpPr>
        <p:spPr>
          <a:xfrm>
            <a:off x="459451" y="1288075"/>
            <a:ext cx="1469326" cy="265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50" dirty="0">
                <a:solidFill>
                  <a:srgbClr val="F0F4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EMULATE</a:t>
            </a:r>
            <a:endParaRPr lang="en-US" sz="18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3625AB1-BC27-0AE8-8C96-7BF9FDCD7259}"/>
              </a:ext>
            </a:extLst>
          </p:cNvPr>
          <p:cNvSpPr/>
          <p:nvPr/>
        </p:nvSpPr>
        <p:spPr>
          <a:xfrm>
            <a:off x="459451" y="1620676"/>
            <a:ext cx="1469326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FB4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</a:t>
            </a:r>
            <a:endParaRPr lang="en-US" sz="12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0076ED2-3CD4-CFE5-8D7E-A79913093BA4}"/>
              </a:ext>
            </a:extLst>
          </p:cNvPr>
          <p:cNvSpPr/>
          <p:nvPr/>
        </p:nvSpPr>
        <p:spPr>
          <a:xfrm>
            <a:off x="459451" y="1843144"/>
            <a:ext cx="1469326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Mininet 2.3 · OVS</a:t>
            </a:r>
            <a:endParaRPr lang="en-US" sz="1200" dirty="0"/>
          </a:p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OpenFlow 1.3 · NS-3</a:t>
            </a:r>
            <a:endParaRPr lang="en-US" sz="1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74620183-82D8-3ECF-CC09-FC55DB0F6FF5}"/>
              </a:ext>
            </a:extLst>
          </p:cNvPr>
          <p:cNvSpPr/>
          <p:nvPr/>
        </p:nvSpPr>
        <p:spPr>
          <a:xfrm>
            <a:off x="459451" y="2324024"/>
            <a:ext cx="1469326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FB4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TOPOLOGY</a:t>
            </a:r>
            <a:endParaRPr lang="en-US" sz="12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3EE69359-5CA9-F329-B077-73934C038903}"/>
              </a:ext>
            </a:extLst>
          </p:cNvPr>
          <p:cNvSpPr/>
          <p:nvPr/>
        </p:nvSpPr>
        <p:spPr>
          <a:xfrm>
            <a:off x="459451" y="2546493"/>
            <a:ext cx="1469326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switches · 4 hosts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AP · 2 stations</a:t>
            </a:r>
            <a:endParaRPr lang="en-US" sz="12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84EB7C5B-1B01-7B05-9B32-9A900830C199}"/>
              </a:ext>
            </a:extLst>
          </p:cNvPr>
          <p:cNvSpPr/>
          <p:nvPr/>
        </p:nvSpPr>
        <p:spPr>
          <a:xfrm>
            <a:off x="459451" y="3027373"/>
            <a:ext cx="1469326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FB457"/>
                </a:solidFill>
                <a:latin typeface="JetBrains Mono" pitchFamily="34" charset="0"/>
                <a:ea typeface="JetBrains Mono" pitchFamily="34" charset="-122"/>
              </a:rPr>
              <a:t>TRAFFIC</a:t>
            </a:r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EACD8741-7560-C19C-4AF2-03646030C9BB}"/>
              </a:ext>
            </a:extLst>
          </p:cNvPr>
          <p:cNvSpPr/>
          <p:nvPr/>
        </p:nvSpPr>
        <p:spPr>
          <a:xfrm>
            <a:off x="459451" y="3249841"/>
            <a:ext cx="1469326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 traffic</a:t>
            </a:r>
            <a:endParaRPr lang="en-US" sz="1200" dirty="0">
              <a:solidFill>
                <a:srgbClr val="9FB0C4"/>
              </a:solidFill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8F6A389C-E983-9933-A03A-FF1903C857D6}"/>
              </a:ext>
            </a:extLst>
          </p:cNvPr>
          <p:cNvSpPr/>
          <p:nvPr/>
        </p:nvSpPr>
        <p:spPr>
          <a:xfrm>
            <a:off x="459451" y="3540225"/>
            <a:ext cx="1469326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FB4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RADIO</a:t>
            </a:r>
            <a:endParaRPr lang="en-US" sz="12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7E40A4F1-4794-9176-7B15-D6CAA9185316}"/>
              </a:ext>
            </a:extLst>
          </p:cNvPr>
          <p:cNvSpPr/>
          <p:nvPr/>
        </p:nvSpPr>
        <p:spPr>
          <a:xfrm>
            <a:off x="459451" y="3762693"/>
            <a:ext cx="1469326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</a:rPr>
              <a:t>NS-3 </a:t>
            </a:r>
            <a:r>
              <a:rPr lang="en-IN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</a:rPr>
              <a:t>802.11g</a:t>
            </a:r>
            <a:endParaRPr lang="en-US" sz="1200" dirty="0">
              <a:solidFill>
                <a:srgbClr val="9FB0C4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log-distance exp 3.5</a:t>
            </a:r>
            <a:endParaRPr lang="en-US" sz="1200" dirty="0">
              <a:solidFill>
                <a:srgbClr val="9FB0C4"/>
              </a:solidFill>
            </a:endParaRPr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8EF67033-4837-4370-639D-BF6715A4A8F3}"/>
              </a:ext>
            </a:extLst>
          </p:cNvPr>
          <p:cNvSpPr/>
          <p:nvPr/>
        </p:nvSpPr>
        <p:spPr>
          <a:xfrm>
            <a:off x="2495369" y="646928"/>
            <a:ext cx="1911245" cy="3899144"/>
          </a:xfrm>
          <a:prstGeom prst="roundRect">
            <a:avLst>
              <a:gd name="adj" fmla="val 5313"/>
            </a:avLst>
          </a:prstGeom>
          <a:solidFill>
            <a:srgbClr val="121822"/>
          </a:solidFill>
          <a:ln w="635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42EC0744-9FB8-181F-99E3-6B646660A15C}"/>
              </a:ext>
            </a:extLst>
          </p:cNvPr>
          <p:cNvSpPr/>
          <p:nvPr/>
        </p:nvSpPr>
        <p:spPr>
          <a:xfrm>
            <a:off x="2665081" y="874255"/>
            <a:ext cx="281818" cy="23504"/>
          </a:xfrm>
          <a:prstGeom prst="roundRect">
            <a:avLst>
              <a:gd name="adj" fmla="val 50000"/>
            </a:avLst>
          </a:prstGeom>
          <a:solidFill>
            <a:srgbClr val="FFB4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F38CDBC3-6721-58D7-7D21-3AD26976D2A6}"/>
              </a:ext>
            </a:extLst>
          </p:cNvPr>
          <p:cNvSpPr/>
          <p:nvPr/>
        </p:nvSpPr>
        <p:spPr>
          <a:xfrm>
            <a:off x="2665081" y="991775"/>
            <a:ext cx="1526759" cy="237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>
                <a:solidFill>
                  <a:srgbClr val="FFB4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139BC85A-8D25-26F8-2FEC-51BC189D75A1}"/>
              </a:ext>
            </a:extLst>
          </p:cNvPr>
          <p:cNvSpPr/>
          <p:nvPr/>
        </p:nvSpPr>
        <p:spPr>
          <a:xfrm>
            <a:off x="2665081" y="1299664"/>
            <a:ext cx="1526759" cy="2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50">
                <a:solidFill>
                  <a:srgbClr val="F0F4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</a:t>
            </a:r>
            <a:endParaRPr lang="en-US" sz="180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DAE6EEC1-6B2A-5EA0-820D-05D84949E93E}"/>
              </a:ext>
            </a:extLst>
          </p:cNvPr>
          <p:cNvSpPr/>
          <p:nvPr/>
        </p:nvSpPr>
        <p:spPr>
          <a:xfrm>
            <a:off x="2665081" y="1647516"/>
            <a:ext cx="1526759" cy="22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>
                <a:solidFill>
                  <a:srgbClr val="FFB4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WIRELESS</a:t>
            </a:r>
            <a:endParaRPr lang="en-US" sz="120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04B90449-E13C-C816-C58F-343C5E471F30}"/>
              </a:ext>
            </a:extLst>
          </p:cNvPr>
          <p:cNvSpPr/>
          <p:nvPr/>
        </p:nvSpPr>
        <p:spPr>
          <a:xfrm>
            <a:off x="2665081" y="1880185"/>
            <a:ext cx="1526759" cy="432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Limited BW,  Collision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 Jamming</a:t>
            </a:r>
          </a:p>
          <a:p>
            <a:pPr marL="0" indent="0" algn="l">
              <a:lnSpc>
                <a:spcPts val="1740"/>
              </a:lnSpc>
              <a:buNone/>
            </a:pPr>
            <a:endParaRPr lang="en-US" sz="1200" dirty="0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CA60D575-456A-50C3-0A1E-5E22DBB71366}"/>
              </a:ext>
            </a:extLst>
          </p:cNvPr>
          <p:cNvSpPr/>
          <p:nvPr/>
        </p:nvSpPr>
        <p:spPr>
          <a:xfrm>
            <a:off x="2665081" y="2337667"/>
            <a:ext cx="1526759" cy="22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FB4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GRID</a:t>
            </a:r>
            <a:endParaRPr lang="en-US" sz="1200" dirty="0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FD3712B8-5EA5-5259-35C3-D6F739F7BFBE}"/>
              </a:ext>
            </a:extLst>
          </p:cNvPr>
          <p:cNvSpPr/>
          <p:nvPr/>
        </p:nvSpPr>
        <p:spPr>
          <a:xfrm>
            <a:off x="2665081" y="2570336"/>
            <a:ext cx="1526759" cy="432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 fault types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2 severity levels</a:t>
            </a:r>
            <a:endParaRPr lang="en-US" sz="1200" dirty="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152C3813-4DF5-F24E-D882-8DE665434A98}"/>
              </a:ext>
            </a:extLst>
          </p:cNvPr>
          <p:cNvSpPr/>
          <p:nvPr/>
        </p:nvSpPr>
        <p:spPr>
          <a:xfrm>
            <a:off x="2665080" y="3042958"/>
            <a:ext cx="1526759" cy="22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FBB0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SCHEDULE</a:t>
            </a:r>
            <a:endParaRPr lang="en-US" sz="1200" dirty="0">
              <a:solidFill>
                <a:srgbClr val="FBB034"/>
              </a:solidFill>
            </a:endParaRPr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F3173A21-1218-C48F-358D-9FAFD06D6940}"/>
              </a:ext>
            </a:extLst>
          </p:cNvPr>
          <p:cNvSpPr/>
          <p:nvPr/>
        </p:nvSpPr>
        <p:spPr>
          <a:xfrm>
            <a:off x="2665081" y="3305937"/>
            <a:ext cx="1526759" cy="432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3000 episodes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 err="1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randomised</a:t>
            </a: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order</a:t>
            </a:r>
            <a:endParaRPr lang="en-US" sz="1200" dirty="0"/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94D5ABD2-4A99-AF2C-BAD8-25DB1FECB008}"/>
              </a:ext>
            </a:extLst>
          </p:cNvPr>
          <p:cNvSpPr/>
          <p:nvPr/>
        </p:nvSpPr>
        <p:spPr>
          <a:xfrm>
            <a:off x="4830123" y="640518"/>
            <a:ext cx="1777438" cy="3899144"/>
          </a:xfrm>
          <a:prstGeom prst="roundRect">
            <a:avLst>
              <a:gd name="adj" fmla="val 5313"/>
            </a:avLst>
          </a:prstGeom>
          <a:solidFill>
            <a:srgbClr val="121822"/>
          </a:solidFill>
          <a:ln w="635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21B8FDEE-68EB-4AF3-7669-D01BA7207F94}"/>
              </a:ext>
            </a:extLst>
          </p:cNvPr>
          <p:cNvSpPr/>
          <p:nvPr/>
        </p:nvSpPr>
        <p:spPr>
          <a:xfrm>
            <a:off x="5005577" y="844056"/>
            <a:ext cx="271217" cy="22473"/>
          </a:xfrm>
          <a:prstGeom prst="roundRect">
            <a:avLst>
              <a:gd name="adj" fmla="val 50000"/>
            </a:avLst>
          </a:prstGeom>
          <a:solidFill>
            <a:srgbClr val="5AA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0E248EEB-3B23-55C1-D094-BE01A925A584}"/>
              </a:ext>
            </a:extLst>
          </p:cNvPr>
          <p:cNvSpPr/>
          <p:nvPr/>
        </p:nvSpPr>
        <p:spPr>
          <a:xfrm>
            <a:off x="5005577" y="956423"/>
            <a:ext cx="1469326" cy="226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5A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9BF29D6F-866D-03C7-BE74-B8560BD8BD90}"/>
              </a:ext>
            </a:extLst>
          </p:cNvPr>
          <p:cNvSpPr/>
          <p:nvPr/>
        </p:nvSpPr>
        <p:spPr>
          <a:xfrm>
            <a:off x="5005577" y="1250813"/>
            <a:ext cx="1469326" cy="265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50" dirty="0">
                <a:solidFill>
                  <a:srgbClr val="F0F4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</a:t>
            </a:r>
            <a:endParaRPr lang="en-US" sz="180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8573E3E-B298-9A85-7C18-E484A7BA4B36}"/>
              </a:ext>
            </a:extLst>
          </p:cNvPr>
          <p:cNvSpPr/>
          <p:nvPr/>
        </p:nvSpPr>
        <p:spPr>
          <a:xfrm>
            <a:off x="5005577" y="1583414"/>
            <a:ext cx="1469326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5A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OPENFLOW</a:t>
            </a:r>
            <a:endParaRPr lang="en-US" sz="1200" dirty="0"/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177EFB37-E890-B27D-B888-B0626497B53D}"/>
              </a:ext>
            </a:extLst>
          </p:cNvPr>
          <p:cNvSpPr/>
          <p:nvPr/>
        </p:nvSpPr>
        <p:spPr>
          <a:xfrm>
            <a:off x="5005577" y="1805882"/>
            <a:ext cx="1469326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+ flow counters</a:t>
            </a:r>
            <a:endParaRPr lang="en-US" sz="1200" dirty="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56FD330A-89BC-6DB8-EAF4-2163CAF6B72B}"/>
              </a:ext>
            </a:extLst>
          </p:cNvPr>
          <p:cNvSpPr/>
          <p:nvPr/>
        </p:nvSpPr>
        <p:spPr>
          <a:xfrm>
            <a:off x="5005577" y="2051812"/>
            <a:ext cx="1469326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5A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QUEUE</a:t>
            </a:r>
            <a:endParaRPr lang="en-US" sz="1200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C5F1C6FF-962F-7782-4E10-714B075C985B}"/>
              </a:ext>
            </a:extLst>
          </p:cNvPr>
          <p:cNvSpPr/>
          <p:nvPr/>
        </p:nvSpPr>
        <p:spPr>
          <a:xfrm>
            <a:off x="5005577" y="2274281"/>
            <a:ext cx="1469326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 · drops</a:t>
            </a:r>
            <a:endParaRPr lang="en-US" sz="1200" dirty="0"/>
          </a:p>
        </p:txBody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9CC7BA89-E204-1609-04FB-03DD84ADF074}"/>
              </a:ext>
            </a:extLst>
          </p:cNvPr>
          <p:cNvSpPr/>
          <p:nvPr/>
        </p:nvSpPr>
        <p:spPr>
          <a:xfrm>
            <a:off x="5005577" y="2558311"/>
            <a:ext cx="1469326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5A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RADIO</a:t>
            </a:r>
            <a:endParaRPr lang="en-US" sz="1200" dirty="0"/>
          </a:p>
        </p:txBody>
      </p:sp>
      <p:sp>
        <p:nvSpPr>
          <p:cNvPr id="65" name="Text 35">
            <a:extLst>
              <a:ext uri="{FF2B5EF4-FFF2-40B4-BE49-F238E27FC236}">
                <a16:creationId xmlns:a16="http://schemas.microsoft.com/office/drawing/2014/main" id="{2080F9BB-C260-B821-CBC4-FDB2F97D8EB6}"/>
              </a:ext>
            </a:extLst>
          </p:cNvPr>
          <p:cNvSpPr/>
          <p:nvPr/>
        </p:nvSpPr>
        <p:spPr>
          <a:xfrm>
            <a:off x="5005577" y="2780779"/>
            <a:ext cx="1469326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RTT · JITTER 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retries </a:t>
            </a:r>
            <a:endParaRPr lang="en-US" sz="1200" dirty="0"/>
          </a:p>
        </p:txBody>
      </p:sp>
      <p:sp>
        <p:nvSpPr>
          <p:cNvPr id="67" name="Text 36">
            <a:extLst>
              <a:ext uri="{FF2B5EF4-FFF2-40B4-BE49-F238E27FC236}">
                <a16:creationId xmlns:a16="http://schemas.microsoft.com/office/drawing/2014/main" id="{2BEC1465-D655-9211-0B28-2FA232076161}"/>
              </a:ext>
            </a:extLst>
          </p:cNvPr>
          <p:cNvSpPr/>
          <p:nvPr/>
        </p:nvSpPr>
        <p:spPr>
          <a:xfrm>
            <a:off x="5005577" y="3261660"/>
            <a:ext cx="1469326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5A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69" name="Text 37">
            <a:extLst>
              <a:ext uri="{FF2B5EF4-FFF2-40B4-BE49-F238E27FC236}">
                <a16:creationId xmlns:a16="http://schemas.microsoft.com/office/drawing/2014/main" id="{BC79AB6A-C78B-D876-749D-389DFB0BDE66}"/>
              </a:ext>
            </a:extLst>
          </p:cNvPr>
          <p:cNvSpPr/>
          <p:nvPr/>
        </p:nvSpPr>
        <p:spPr>
          <a:xfrm>
            <a:off x="5005577" y="3484128"/>
            <a:ext cx="1469326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ping</a:t>
            </a:r>
            <a:endParaRPr lang="en-US" sz="1200" dirty="0"/>
          </a:p>
        </p:txBody>
      </p:sp>
      <p:sp>
        <p:nvSpPr>
          <p:cNvPr id="72" name="Shape 38">
            <a:extLst>
              <a:ext uri="{FF2B5EF4-FFF2-40B4-BE49-F238E27FC236}">
                <a16:creationId xmlns:a16="http://schemas.microsoft.com/office/drawing/2014/main" id="{BE3CD675-FF52-C8D8-4BA6-50BD5228EF33}"/>
              </a:ext>
            </a:extLst>
          </p:cNvPr>
          <p:cNvSpPr/>
          <p:nvPr/>
        </p:nvSpPr>
        <p:spPr>
          <a:xfrm>
            <a:off x="7023906" y="640518"/>
            <a:ext cx="1911244" cy="3899144"/>
          </a:xfrm>
          <a:prstGeom prst="roundRect">
            <a:avLst>
              <a:gd name="adj" fmla="val 5313"/>
            </a:avLst>
          </a:prstGeom>
          <a:solidFill>
            <a:srgbClr val="121822"/>
          </a:solidFill>
          <a:ln w="6350">
            <a:solidFill>
              <a:srgbClr val="1F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4" name="Shape 39">
            <a:extLst>
              <a:ext uri="{FF2B5EF4-FFF2-40B4-BE49-F238E27FC236}">
                <a16:creationId xmlns:a16="http://schemas.microsoft.com/office/drawing/2014/main" id="{DBDC6BC1-3C76-5AE6-B37F-706A4442B16F}"/>
              </a:ext>
            </a:extLst>
          </p:cNvPr>
          <p:cNvSpPr/>
          <p:nvPr/>
        </p:nvSpPr>
        <p:spPr>
          <a:xfrm>
            <a:off x="7212568" y="844056"/>
            <a:ext cx="291634" cy="22473"/>
          </a:xfrm>
          <a:prstGeom prst="roundRect">
            <a:avLst>
              <a:gd name="adj" fmla="val 50000"/>
            </a:avLst>
          </a:prstGeom>
          <a:solidFill>
            <a:srgbClr val="5AA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C5F4A313-01AF-9A03-8553-46AF6FE3C3A4}"/>
              </a:ext>
            </a:extLst>
          </p:cNvPr>
          <p:cNvSpPr/>
          <p:nvPr/>
        </p:nvSpPr>
        <p:spPr>
          <a:xfrm>
            <a:off x="7212568" y="956423"/>
            <a:ext cx="1579937" cy="226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5A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00" dirty="0"/>
          </a:p>
        </p:txBody>
      </p:sp>
      <p:sp>
        <p:nvSpPr>
          <p:cNvPr id="78" name="Text 41">
            <a:extLst>
              <a:ext uri="{FF2B5EF4-FFF2-40B4-BE49-F238E27FC236}">
                <a16:creationId xmlns:a16="http://schemas.microsoft.com/office/drawing/2014/main" id="{DFD6421E-1F0B-1760-0515-A41AA4339A68}"/>
              </a:ext>
            </a:extLst>
          </p:cNvPr>
          <p:cNvSpPr/>
          <p:nvPr/>
        </p:nvSpPr>
        <p:spPr>
          <a:xfrm>
            <a:off x="7212568" y="1250813"/>
            <a:ext cx="1579937" cy="265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50" dirty="0">
                <a:solidFill>
                  <a:srgbClr val="F0F4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</a:t>
            </a:r>
            <a:endParaRPr lang="en-US" sz="1800" dirty="0"/>
          </a:p>
        </p:txBody>
      </p:sp>
      <p:sp>
        <p:nvSpPr>
          <p:cNvPr id="80" name="Text 42">
            <a:extLst>
              <a:ext uri="{FF2B5EF4-FFF2-40B4-BE49-F238E27FC236}">
                <a16:creationId xmlns:a16="http://schemas.microsoft.com/office/drawing/2014/main" id="{6B30F011-F2CE-3F51-F229-CC907015A438}"/>
              </a:ext>
            </a:extLst>
          </p:cNvPr>
          <p:cNvSpPr/>
          <p:nvPr/>
        </p:nvSpPr>
        <p:spPr>
          <a:xfrm>
            <a:off x="7212568" y="1583414"/>
            <a:ext cx="1579937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5A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FEATURES</a:t>
            </a:r>
            <a:endParaRPr lang="en-US" sz="1200" dirty="0"/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A81E38E7-8B5E-1998-9E75-9D08B3DFD7D7}"/>
              </a:ext>
            </a:extLst>
          </p:cNvPr>
          <p:cNvSpPr/>
          <p:nvPr/>
        </p:nvSpPr>
        <p:spPr>
          <a:xfrm>
            <a:off x="7212568" y="1805882"/>
            <a:ext cx="1579937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counters → rates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stats per window</a:t>
            </a:r>
            <a:endParaRPr lang="en-US" sz="1200" dirty="0"/>
          </a:p>
        </p:txBody>
      </p:sp>
      <p:sp>
        <p:nvSpPr>
          <p:cNvPr id="88" name="Text 46">
            <a:extLst>
              <a:ext uri="{FF2B5EF4-FFF2-40B4-BE49-F238E27FC236}">
                <a16:creationId xmlns:a16="http://schemas.microsoft.com/office/drawing/2014/main" id="{677986C7-DB2F-CF6D-25B4-28E7D783A6DB}"/>
              </a:ext>
            </a:extLst>
          </p:cNvPr>
          <p:cNvSpPr/>
          <p:nvPr/>
        </p:nvSpPr>
        <p:spPr>
          <a:xfrm>
            <a:off x="7212568" y="2304311"/>
            <a:ext cx="1579937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5A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</a:t>
            </a:r>
            <a:endParaRPr lang="en-US" sz="1200" dirty="0"/>
          </a:p>
        </p:txBody>
      </p:sp>
      <p:sp>
        <p:nvSpPr>
          <p:cNvPr id="90" name="Text 47">
            <a:extLst>
              <a:ext uri="{FF2B5EF4-FFF2-40B4-BE49-F238E27FC236}">
                <a16:creationId xmlns:a16="http://schemas.microsoft.com/office/drawing/2014/main" id="{079CB1B5-3A2D-433A-4A9D-92AE98FF911C}"/>
              </a:ext>
            </a:extLst>
          </p:cNvPr>
          <p:cNvSpPr/>
          <p:nvPr/>
        </p:nvSpPr>
        <p:spPr>
          <a:xfrm>
            <a:off x="7212568" y="2526779"/>
            <a:ext cx="1579937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740"/>
              </a:lnSpc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</a:rPr>
              <a:t>LR </a:t>
            </a: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LSTM</a:t>
            </a: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</a:rPr>
              <a:t> 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 · RF · XGBoost</a:t>
            </a:r>
            <a:endParaRPr lang="en-US" sz="1200" dirty="0"/>
          </a:p>
        </p:txBody>
      </p:sp>
      <p:sp>
        <p:nvSpPr>
          <p:cNvPr id="92" name="Text 48">
            <a:extLst>
              <a:ext uri="{FF2B5EF4-FFF2-40B4-BE49-F238E27FC236}">
                <a16:creationId xmlns:a16="http://schemas.microsoft.com/office/drawing/2014/main" id="{ACDA2301-2270-3277-F575-DE4F038BFFBA}"/>
              </a:ext>
            </a:extLst>
          </p:cNvPr>
          <p:cNvSpPr/>
          <p:nvPr/>
        </p:nvSpPr>
        <p:spPr>
          <a:xfrm>
            <a:off x="7212568" y="3007660"/>
            <a:ext cx="1579937" cy="21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5AA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94" name="Text 49">
            <a:extLst>
              <a:ext uri="{FF2B5EF4-FFF2-40B4-BE49-F238E27FC236}">
                <a16:creationId xmlns:a16="http://schemas.microsoft.com/office/drawing/2014/main" id="{77BCC433-C666-5873-A1B5-4E8C54CBDB22}"/>
              </a:ext>
            </a:extLst>
          </p:cNvPr>
          <p:cNvSpPr/>
          <p:nvPr/>
        </p:nvSpPr>
        <p:spPr>
          <a:xfrm>
            <a:off x="7212568" y="3230128"/>
            <a:ext cx="1579937" cy="4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9FB0C4"/>
                </a:solidFill>
                <a:latin typeface="Inter" pitchFamily="34" charset="0"/>
                <a:ea typeface="Inter" pitchFamily="34" charset="-122"/>
              </a:rPr>
              <a:t>Macro F1, Precision, Recall,  Accuracy</a:t>
            </a:r>
            <a:endParaRPr lang="en-US" sz="1200" dirty="0"/>
          </a:p>
        </p:txBody>
      </p:sp>
      <p:pic>
        <p:nvPicPr>
          <p:cNvPr id="99" name="Image 0" descr="connector">
            <a:extLst>
              <a:ext uri="{FF2B5EF4-FFF2-40B4-BE49-F238E27FC236}">
                <a16:creationId xmlns:a16="http://schemas.microsoft.com/office/drawing/2014/main" id="{E6A84463-23DE-B492-BF1D-CEF90357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38374" y="2564986"/>
            <a:ext cx="508000" cy="101600"/>
          </a:xfrm>
          <a:prstGeom prst="rect">
            <a:avLst/>
          </a:prstGeom>
        </p:spPr>
      </p:pic>
      <p:pic>
        <p:nvPicPr>
          <p:cNvPr id="101" name="Image 0" descr="connector">
            <a:extLst>
              <a:ext uri="{FF2B5EF4-FFF2-40B4-BE49-F238E27FC236}">
                <a16:creationId xmlns:a16="http://schemas.microsoft.com/office/drawing/2014/main" id="{0C69EA1B-8592-2030-CA71-E4C81A3BA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71119" y="2564986"/>
            <a:ext cx="508000" cy="101600"/>
          </a:xfrm>
          <a:prstGeom prst="rect">
            <a:avLst/>
          </a:prstGeom>
        </p:spPr>
      </p:pic>
      <p:pic>
        <p:nvPicPr>
          <p:cNvPr id="103" name="Image 0" descr="connector">
            <a:extLst>
              <a:ext uri="{FF2B5EF4-FFF2-40B4-BE49-F238E27FC236}">
                <a16:creationId xmlns:a16="http://schemas.microsoft.com/office/drawing/2014/main" id="{BE088B9C-D1E5-C621-A41E-77017450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60883" y="2564986"/>
            <a:ext cx="5080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D17C1-C642-D85D-1DCB-A66B9FD3F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F448D53-29BD-C101-886E-B573D742F859}"/>
              </a:ext>
            </a:extLst>
          </p:cNvPr>
          <p:cNvSpPr/>
          <p:nvPr/>
        </p:nvSpPr>
        <p:spPr>
          <a:xfrm>
            <a:off x="192989" y="784496"/>
            <a:ext cx="4332199" cy="18650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4AA81C-D1F9-F455-21AF-A2D2FF484133}"/>
              </a:ext>
            </a:extLst>
          </p:cNvPr>
          <p:cNvSpPr/>
          <p:nvPr/>
        </p:nvSpPr>
        <p:spPr>
          <a:xfrm>
            <a:off x="4613191" y="784496"/>
            <a:ext cx="4332199" cy="18650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FC62BB-89F2-0990-523E-2F1B8781BC79}"/>
              </a:ext>
            </a:extLst>
          </p:cNvPr>
          <p:cNvSpPr/>
          <p:nvPr/>
        </p:nvSpPr>
        <p:spPr>
          <a:xfrm>
            <a:off x="186368" y="2732421"/>
            <a:ext cx="4332198" cy="18650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08E365-40C4-BA52-C5BE-50B6285CA07E}"/>
              </a:ext>
            </a:extLst>
          </p:cNvPr>
          <p:cNvSpPr/>
          <p:nvPr/>
        </p:nvSpPr>
        <p:spPr>
          <a:xfrm>
            <a:off x="4613191" y="2732421"/>
            <a:ext cx="4332198" cy="18650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5AB214-67E9-B6B1-59ED-093603B0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63309-52EF-0C62-4A5B-C7F44427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AA290F-16B9-EF4B-6A32-B661D0C1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89" y="231469"/>
            <a:ext cx="8651153" cy="553027"/>
          </a:xfrm>
        </p:spPr>
        <p:txBody>
          <a:bodyPr/>
          <a:lstStyle/>
          <a:p>
            <a:r>
              <a:rPr lang="en-IN" sz="3200" dirty="0"/>
              <a:t>Results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AEB15-3B67-2F84-44F9-FA12C3DB7FCE}"/>
              </a:ext>
            </a:extLst>
          </p:cNvPr>
          <p:cNvSpPr txBox="1"/>
          <p:nvPr/>
        </p:nvSpPr>
        <p:spPr>
          <a:xfrm>
            <a:off x="2798618" y="651164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F7487C7-E382-0067-10E4-4EA5E6EFD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0579"/>
              </p:ext>
            </p:extLst>
          </p:nvPr>
        </p:nvGraphicFramePr>
        <p:xfrm>
          <a:off x="242472" y="1081652"/>
          <a:ext cx="2159000" cy="149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79">
                  <a:extLst>
                    <a:ext uri="{9D8B030D-6E8A-4147-A177-3AD203B41FA5}">
                      <a16:colId xmlns:a16="http://schemas.microsoft.com/office/drawing/2014/main" val="4102551886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1121042642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3719630359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2619050035"/>
                    </a:ext>
                  </a:extLst>
                </a:gridCol>
              </a:tblGrid>
              <a:tr h="343541"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640734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5109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 dirty="0"/>
                        <a:t>Limited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20173"/>
                  </a:ext>
                </a:extLst>
              </a:tr>
              <a:tr h="440409">
                <a:tc>
                  <a:txBody>
                    <a:bodyPr/>
                    <a:lstStyle/>
                    <a:p>
                      <a:r>
                        <a:rPr lang="en-IN" sz="900" dirty="0"/>
                        <a:t>Hidden Node Collisions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036367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E739BE58-A9D2-396A-58D5-6B2427961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411734"/>
              </p:ext>
            </p:extLst>
          </p:nvPr>
        </p:nvGraphicFramePr>
        <p:xfrm>
          <a:off x="242472" y="3022503"/>
          <a:ext cx="2159000" cy="149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79">
                  <a:extLst>
                    <a:ext uri="{9D8B030D-6E8A-4147-A177-3AD203B41FA5}">
                      <a16:colId xmlns:a16="http://schemas.microsoft.com/office/drawing/2014/main" val="4102551886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1121042642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3719630359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2619050035"/>
                    </a:ext>
                  </a:extLst>
                </a:gridCol>
              </a:tblGrid>
              <a:tr h="343541"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640734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5109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 dirty="0"/>
                        <a:t>Limited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20173"/>
                  </a:ext>
                </a:extLst>
              </a:tr>
              <a:tr h="440409">
                <a:tc>
                  <a:txBody>
                    <a:bodyPr/>
                    <a:lstStyle/>
                    <a:p>
                      <a:r>
                        <a:rPr lang="en-IN" sz="900" dirty="0"/>
                        <a:t>Hidden Node Collisions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036367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D1136787-AE4B-D4F0-E903-B773B4B13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482024"/>
              </p:ext>
            </p:extLst>
          </p:nvPr>
        </p:nvGraphicFramePr>
        <p:xfrm>
          <a:off x="6679527" y="1081652"/>
          <a:ext cx="2159003" cy="149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79">
                  <a:extLst>
                    <a:ext uri="{9D8B030D-6E8A-4147-A177-3AD203B41FA5}">
                      <a16:colId xmlns:a16="http://schemas.microsoft.com/office/drawing/2014/main" val="4102551886"/>
                    </a:ext>
                  </a:extLst>
                </a:gridCol>
                <a:gridCol w="410608">
                  <a:extLst>
                    <a:ext uri="{9D8B030D-6E8A-4147-A177-3AD203B41FA5}">
                      <a16:colId xmlns:a16="http://schemas.microsoft.com/office/drawing/2014/main" val="1121042642"/>
                    </a:ext>
                  </a:extLst>
                </a:gridCol>
                <a:gridCol w="410608">
                  <a:extLst>
                    <a:ext uri="{9D8B030D-6E8A-4147-A177-3AD203B41FA5}">
                      <a16:colId xmlns:a16="http://schemas.microsoft.com/office/drawing/2014/main" val="3719630359"/>
                    </a:ext>
                  </a:extLst>
                </a:gridCol>
                <a:gridCol w="410608">
                  <a:extLst>
                    <a:ext uri="{9D8B030D-6E8A-4147-A177-3AD203B41FA5}">
                      <a16:colId xmlns:a16="http://schemas.microsoft.com/office/drawing/2014/main" val="2619050035"/>
                    </a:ext>
                  </a:extLst>
                </a:gridCol>
              </a:tblGrid>
              <a:tr h="343541"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640734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5109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 dirty="0"/>
                        <a:t>Limited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20173"/>
                  </a:ext>
                </a:extLst>
              </a:tr>
              <a:tr h="440409">
                <a:tc>
                  <a:txBody>
                    <a:bodyPr/>
                    <a:lstStyle/>
                    <a:p>
                      <a:r>
                        <a:rPr lang="en-IN" sz="900" dirty="0"/>
                        <a:t>Hidden Node Collisions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036367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369FDF22-3DF3-AF94-310C-4A5F0C30E02F}"/>
              </a:ext>
            </a:extLst>
          </p:cNvPr>
          <p:cNvSpPr txBox="1"/>
          <p:nvPr/>
        </p:nvSpPr>
        <p:spPr>
          <a:xfrm>
            <a:off x="6679527" y="896157"/>
            <a:ext cx="2257966" cy="1518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IN" sz="1400" b="1" dirty="0">
                <a:solidFill>
                  <a:srgbClr val="002060"/>
                </a:solidFill>
              </a:rPr>
              <a:t>SVM (</a:t>
            </a:r>
            <a:r>
              <a:rPr lang="en-IN" sz="1400" b="1">
                <a:solidFill>
                  <a:srgbClr val="002060"/>
                </a:solidFill>
              </a:rPr>
              <a:t>Macro F1</a:t>
            </a:r>
            <a:r>
              <a:rPr lang="en-IN" sz="1400" b="1" dirty="0">
                <a:solidFill>
                  <a:srgbClr val="002060"/>
                </a:solidFill>
              </a:rPr>
              <a:t> – </a:t>
            </a:r>
            <a:r>
              <a:rPr lang="en-IN" sz="1400" b="1">
                <a:solidFill>
                  <a:srgbClr val="002060"/>
                </a:solidFill>
                <a:highlight>
                  <a:srgbClr val="FFFF00"/>
                </a:highlight>
              </a:rPr>
              <a:t>0.95</a:t>
            </a:r>
            <a:r>
              <a:rPr lang="en-IN" sz="1400" b="1" dirty="0">
                <a:solidFill>
                  <a:srgbClr val="002060"/>
                </a:solidFill>
              </a:rPr>
              <a:t>)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B951B521-5624-2FAC-0F80-7B68CB598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924812"/>
              </p:ext>
            </p:extLst>
          </p:nvPr>
        </p:nvGraphicFramePr>
        <p:xfrm>
          <a:off x="6667542" y="2997103"/>
          <a:ext cx="2159000" cy="149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79">
                  <a:extLst>
                    <a:ext uri="{9D8B030D-6E8A-4147-A177-3AD203B41FA5}">
                      <a16:colId xmlns:a16="http://schemas.microsoft.com/office/drawing/2014/main" val="4102551886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1121042642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3719630359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2619050035"/>
                    </a:ext>
                  </a:extLst>
                </a:gridCol>
              </a:tblGrid>
              <a:tr h="343541"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640734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5109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 dirty="0"/>
                        <a:t>Limited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20173"/>
                  </a:ext>
                </a:extLst>
              </a:tr>
              <a:tr h="440409">
                <a:tc>
                  <a:txBody>
                    <a:bodyPr/>
                    <a:lstStyle/>
                    <a:p>
                      <a:r>
                        <a:rPr lang="en-IN" sz="900" dirty="0"/>
                        <a:t>Hidden Node Collisions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03636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FF5A91E-BC62-5057-3C00-CEE927093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473" y="896157"/>
            <a:ext cx="1978079" cy="168118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8E29F1A-C65D-AFC6-E366-C0078E85E4B7}"/>
              </a:ext>
            </a:extLst>
          </p:cNvPr>
          <p:cNvSpPr txBox="1"/>
          <p:nvPr/>
        </p:nvSpPr>
        <p:spPr>
          <a:xfrm>
            <a:off x="6667542" y="2811608"/>
            <a:ext cx="2257966" cy="1518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IN" sz="1400" b="1" dirty="0">
                <a:solidFill>
                  <a:srgbClr val="002060"/>
                </a:solidFill>
              </a:rPr>
              <a:t>XG Boost (</a:t>
            </a:r>
            <a:r>
              <a:rPr lang="en-IN" sz="1400" b="1">
                <a:solidFill>
                  <a:srgbClr val="002060"/>
                </a:solidFill>
              </a:rPr>
              <a:t>Macro F1</a:t>
            </a:r>
            <a:r>
              <a:rPr lang="en-IN" sz="1400" b="1" dirty="0">
                <a:solidFill>
                  <a:srgbClr val="002060"/>
                </a:solidFill>
              </a:rPr>
              <a:t> – </a:t>
            </a:r>
            <a:r>
              <a:rPr lang="en-IN" sz="1400" b="1">
                <a:solidFill>
                  <a:srgbClr val="002060"/>
                </a:solidFill>
                <a:highlight>
                  <a:srgbClr val="FFFF00"/>
                </a:highlight>
              </a:rPr>
              <a:t>0.96</a:t>
            </a:r>
            <a:r>
              <a:rPr lang="en-IN" sz="1400" b="1" dirty="0">
                <a:solidFill>
                  <a:srgbClr val="002060"/>
                </a:solidFill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C797D5-5585-72AA-046F-049E4259A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60" y="896157"/>
            <a:ext cx="2012766" cy="171066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A4B4A37-86B6-4519-9F20-59058F198ACF}"/>
              </a:ext>
            </a:extLst>
          </p:cNvPr>
          <p:cNvSpPr txBox="1"/>
          <p:nvPr/>
        </p:nvSpPr>
        <p:spPr>
          <a:xfrm>
            <a:off x="-77568" y="887709"/>
            <a:ext cx="3214813" cy="1565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IN" sz="1400" b="1" dirty="0">
                <a:solidFill>
                  <a:srgbClr val="002060"/>
                </a:solidFill>
              </a:rPr>
              <a:t>Logistic Regression (</a:t>
            </a:r>
            <a:r>
              <a:rPr lang="en-IN" sz="1400" b="1">
                <a:solidFill>
                  <a:srgbClr val="002060"/>
                </a:solidFill>
              </a:rPr>
              <a:t>Macro F1</a:t>
            </a:r>
            <a:r>
              <a:rPr lang="en-IN" sz="1400" b="1" dirty="0">
                <a:solidFill>
                  <a:srgbClr val="002060"/>
                </a:solidFill>
              </a:rPr>
              <a:t> – </a:t>
            </a:r>
            <a:r>
              <a:rPr lang="en-IN" sz="1400" b="1">
                <a:solidFill>
                  <a:srgbClr val="002060"/>
                </a:solidFill>
                <a:highlight>
                  <a:srgbClr val="FFFF00"/>
                </a:highlight>
              </a:rPr>
              <a:t>0.95</a:t>
            </a:r>
            <a:r>
              <a:rPr lang="en-IN" sz="1400" b="1" dirty="0">
                <a:solidFill>
                  <a:srgbClr val="002060"/>
                </a:solidFill>
              </a:rPr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048226-8A60-A82E-F674-BE0A7BB0D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576" y="2860096"/>
            <a:ext cx="1948040" cy="16556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4137A9-EBE7-B38C-988A-44F1D416E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540" y="2837007"/>
            <a:ext cx="1990180" cy="169147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73EAE60-F171-FA21-F2AD-89F963DA362E}"/>
              </a:ext>
            </a:extLst>
          </p:cNvPr>
          <p:cNvSpPr txBox="1"/>
          <p:nvPr/>
        </p:nvSpPr>
        <p:spPr>
          <a:xfrm>
            <a:off x="237187" y="2837007"/>
            <a:ext cx="2386428" cy="1518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IN" sz="1400" b="1" dirty="0">
                <a:solidFill>
                  <a:srgbClr val="002060"/>
                </a:solidFill>
              </a:rPr>
              <a:t>Random Forest (</a:t>
            </a:r>
            <a:r>
              <a:rPr lang="en-IN" sz="1400" b="1">
                <a:solidFill>
                  <a:srgbClr val="002060"/>
                </a:solidFill>
              </a:rPr>
              <a:t>Macro F1</a:t>
            </a:r>
            <a:r>
              <a:rPr lang="en-IN" sz="1400" b="1" dirty="0">
                <a:solidFill>
                  <a:srgbClr val="002060"/>
                </a:solidFill>
              </a:rPr>
              <a:t> – </a:t>
            </a:r>
            <a:r>
              <a:rPr lang="en-IN" sz="1400" b="1">
                <a:solidFill>
                  <a:srgbClr val="002060"/>
                </a:solidFill>
                <a:highlight>
                  <a:srgbClr val="FFFF00"/>
                </a:highlight>
              </a:rPr>
              <a:t>0.96</a:t>
            </a:r>
            <a:r>
              <a:rPr lang="en-IN" sz="1400" b="1" dirty="0">
                <a:solidFill>
                  <a:srgbClr val="00206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0661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31A0D-4E44-F192-1B2A-92594FEFD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C07C758-2B0F-0390-8F5E-8622696CF901}"/>
              </a:ext>
            </a:extLst>
          </p:cNvPr>
          <p:cNvSpPr/>
          <p:nvPr/>
        </p:nvSpPr>
        <p:spPr>
          <a:xfrm>
            <a:off x="192989" y="784496"/>
            <a:ext cx="4332199" cy="18650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1E9925-E93B-64D3-8D59-9D6E7CB6C366}"/>
              </a:ext>
            </a:extLst>
          </p:cNvPr>
          <p:cNvSpPr/>
          <p:nvPr/>
        </p:nvSpPr>
        <p:spPr>
          <a:xfrm>
            <a:off x="201434" y="2761236"/>
            <a:ext cx="4332198" cy="18650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832C05-E3F4-BBED-E0D3-28678DE6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0BA36-3B9F-D4B4-F8C7-A20663E2E30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8514D5-9716-AB97-46C6-1ED209925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89" y="231469"/>
            <a:ext cx="8651153" cy="553027"/>
          </a:xfrm>
        </p:spPr>
        <p:txBody>
          <a:bodyPr/>
          <a:lstStyle/>
          <a:p>
            <a:r>
              <a:rPr lang="en-IN" sz="3200"/>
              <a:t>Results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B9D5B4-2000-C73E-06FC-C7E876EF42CD}"/>
              </a:ext>
            </a:extLst>
          </p:cNvPr>
          <p:cNvSpPr txBox="1"/>
          <p:nvPr/>
        </p:nvSpPr>
        <p:spPr>
          <a:xfrm>
            <a:off x="2798618" y="651164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>
              <a:solidFill>
                <a:schemeClr val="tx1"/>
              </a:solidFill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C0FE079-CD0C-3D69-5629-28AE16629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956055"/>
              </p:ext>
            </p:extLst>
          </p:nvPr>
        </p:nvGraphicFramePr>
        <p:xfrm>
          <a:off x="242472" y="1081652"/>
          <a:ext cx="2159000" cy="149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79">
                  <a:extLst>
                    <a:ext uri="{9D8B030D-6E8A-4147-A177-3AD203B41FA5}">
                      <a16:colId xmlns:a16="http://schemas.microsoft.com/office/drawing/2014/main" val="4102551886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1121042642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3719630359"/>
                    </a:ext>
                  </a:extLst>
                </a:gridCol>
                <a:gridCol w="410607">
                  <a:extLst>
                    <a:ext uri="{9D8B030D-6E8A-4147-A177-3AD203B41FA5}">
                      <a16:colId xmlns:a16="http://schemas.microsoft.com/office/drawing/2014/main" val="2619050035"/>
                    </a:ext>
                  </a:extLst>
                </a:gridCol>
              </a:tblGrid>
              <a:tr h="343541">
                <a:tc>
                  <a:txBody>
                    <a:bodyPr/>
                    <a:lstStyle/>
                    <a:p>
                      <a:endParaRPr lang="en-IN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640734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35109"/>
                  </a:ext>
                </a:extLst>
              </a:tr>
              <a:tr h="343541">
                <a:tc>
                  <a:txBody>
                    <a:bodyPr/>
                    <a:lstStyle/>
                    <a:p>
                      <a:r>
                        <a:rPr lang="en-IN" sz="900"/>
                        <a:t>Limited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20173"/>
                  </a:ext>
                </a:extLst>
              </a:tr>
              <a:tr h="440409">
                <a:tc>
                  <a:txBody>
                    <a:bodyPr/>
                    <a:lstStyle/>
                    <a:p>
                      <a:r>
                        <a:rPr lang="en-IN" sz="900"/>
                        <a:t>Hidden Node Collisions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036367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36056F5-CB15-EF99-BF8B-ED8EACC15FD4}"/>
              </a:ext>
            </a:extLst>
          </p:cNvPr>
          <p:cNvSpPr txBox="1"/>
          <p:nvPr/>
        </p:nvSpPr>
        <p:spPr>
          <a:xfrm>
            <a:off x="192989" y="896157"/>
            <a:ext cx="2395452" cy="1518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IN" sz="1400" b="1">
                <a:solidFill>
                  <a:srgbClr val="002060"/>
                </a:solidFill>
              </a:rPr>
              <a:t>LSTM (Macro F1 – </a:t>
            </a:r>
            <a:r>
              <a:rPr lang="en-IN" sz="1400" b="1">
                <a:solidFill>
                  <a:srgbClr val="002060"/>
                </a:solidFill>
                <a:highlight>
                  <a:srgbClr val="FFFF00"/>
                </a:highlight>
              </a:rPr>
              <a:t>0.95</a:t>
            </a:r>
            <a:r>
              <a:rPr lang="en-IN" sz="1400" b="1">
                <a:solidFill>
                  <a:srgbClr val="002060"/>
                </a:solidFill>
              </a:rPr>
              <a:t>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C8E47CE-1703-4D67-8C30-06470026484A}"/>
              </a:ext>
            </a:extLst>
          </p:cNvPr>
          <p:cNvGrpSpPr/>
          <p:nvPr/>
        </p:nvGrpSpPr>
        <p:grpSpPr>
          <a:xfrm>
            <a:off x="5116442" y="989263"/>
            <a:ext cx="1528443" cy="3320623"/>
            <a:chOff x="835094" y="1461074"/>
            <a:chExt cx="1302597" cy="2891777"/>
          </a:xfrm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6E690144-5856-2505-4EF5-2890410A9A82}"/>
                </a:ext>
              </a:extLst>
            </p:cNvPr>
            <p:cNvSpPr/>
            <p:nvPr/>
          </p:nvSpPr>
          <p:spPr>
            <a:xfrm flipH="1">
              <a:off x="842291" y="3057451"/>
              <a:ext cx="1295400" cy="1295400"/>
            </a:xfrm>
            <a:prstGeom prst="teardrop">
              <a:avLst/>
            </a:prstGeom>
            <a:solidFill>
              <a:srgbClr val="4E84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C107A59-B235-22B8-90AB-2C631D3459B8}"/>
                </a:ext>
              </a:extLst>
            </p:cNvPr>
            <p:cNvSpPr/>
            <p:nvPr/>
          </p:nvSpPr>
          <p:spPr>
            <a:xfrm flipH="1">
              <a:off x="959183" y="3182546"/>
              <a:ext cx="1045210" cy="10452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124B049-65BB-D71A-3A15-9C1B934FF0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094" y="1575029"/>
              <a:ext cx="7184" cy="1365898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D11DF7-CD4D-724F-5E87-D4EB192CA491}"/>
                </a:ext>
              </a:extLst>
            </p:cNvPr>
            <p:cNvSpPr txBox="1"/>
            <p:nvPr/>
          </p:nvSpPr>
          <p:spPr>
            <a:xfrm>
              <a:off x="842290" y="1461074"/>
              <a:ext cx="1295401" cy="16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Clr>
                  <a:srgbClr val="4E84C4"/>
                </a:buClr>
              </a:pPr>
              <a:r>
                <a:rPr lang="en-IN" sz="1200" b="1">
                  <a:solidFill>
                    <a:schemeClr val="accent3"/>
                  </a:solidFill>
                </a:rPr>
                <a:t>Better suited for tabular data</a:t>
              </a:r>
              <a:r>
                <a:rPr lang="en-IN" sz="1200" b="1">
                  <a:solidFill>
                    <a:schemeClr val="bg1"/>
                  </a:solidFill>
                </a:rPr>
                <a:t>: </a:t>
              </a:r>
              <a:r>
                <a:rPr lang="en-IN" sz="1200">
                  <a:solidFill>
                    <a:schemeClr val="bg1"/>
                  </a:solidFill>
                </a:rPr>
                <a:t>Ensemble Models effectively learns patterns directly from structured network features such as latency, jitter, packet loss, and throughput.</a:t>
              </a:r>
            </a:p>
            <a:p>
              <a:r>
                <a:rPr lang="en-US" sz="900">
                  <a:solidFill>
                    <a:schemeClr val="accent3"/>
                  </a:solidFill>
                </a:rPr>
                <a:t> 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4B0C4E4-341D-B161-F4A7-0BB5A74599FC}"/>
              </a:ext>
            </a:extLst>
          </p:cNvPr>
          <p:cNvSpPr txBox="1"/>
          <p:nvPr/>
        </p:nvSpPr>
        <p:spPr>
          <a:xfrm>
            <a:off x="4722815" y="631513"/>
            <a:ext cx="4176093" cy="149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IN" sz="1400">
                <a:solidFill>
                  <a:schemeClr val="bg1"/>
                </a:solidFill>
              </a:rPr>
              <a:t>Q: Why the Ensemble Models Outperformed LSTM?</a:t>
            </a:r>
            <a:endParaRPr lang="en-IN" sz="14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C44FCFC-D1C0-25D0-B6D2-AB71536B3895}"/>
              </a:ext>
            </a:extLst>
          </p:cNvPr>
          <p:cNvGrpSpPr/>
          <p:nvPr/>
        </p:nvGrpSpPr>
        <p:grpSpPr>
          <a:xfrm>
            <a:off x="7082779" y="989263"/>
            <a:ext cx="1519999" cy="3806129"/>
            <a:chOff x="835260" y="1335290"/>
            <a:chExt cx="1295400" cy="3314582"/>
          </a:xfrm>
        </p:grpSpPr>
        <p:sp>
          <p:nvSpPr>
            <p:cNvPr id="32" name="Teardrop 31">
              <a:extLst>
                <a:ext uri="{FF2B5EF4-FFF2-40B4-BE49-F238E27FC236}">
                  <a16:creationId xmlns:a16="http://schemas.microsoft.com/office/drawing/2014/main" id="{29019545-A61C-5E30-6F0F-9DB972AC1D41}"/>
                </a:ext>
              </a:extLst>
            </p:cNvPr>
            <p:cNvSpPr/>
            <p:nvPr/>
          </p:nvSpPr>
          <p:spPr>
            <a:xfrm flipH="1">
              <a:off x="835260" y="3354472"/>
              <a:ext cx="1295400" cy="1295400"/>
            </a:xfrm>
            <a:prstGeom prst="teardrop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071127F-966B-E0EF-F6CF-E9D2F33C1BE1}"/>
                </a:ext>
              </a:extLst>
            </p:cNvPr>
            <p:cNvSpPr/>
            <p:nvPr/>
          </p:nvSpPr>
          <p:spPr>
            <a:xfrm flipH="1">
              <a:off x="960356" y="3479566"/>
              <a:ext cx="1045210" cy="10452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7A9D395-D1F6-48D3-28BE-79176381A1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260" y="1469335"/>
              <a:ext cx="2940" cy="1799356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6FC86C0-CCBD-92B9-E165-21BEAB7FAA0C}"/>
                </a:ext>
              </a:extLst>
            </p:cNvPr>
            <p:cNvSpPr txBox="1"/>
            <p:nvPr/>
          </p:nvSpPr>
          <p:spPr>
            <a:xfrm>
              <a:off x="841306" y="1335290"/>
              <a:ext cx="1289354" cy="21710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lnSpc>
                  <a:spcPct val="100000"/>
                </a:lnSpc>
                <a:buNone/>
              </a:pPr>
              <a:r>
                <a:rPr lang="en-IN" sz="1200" b="1">
                  <a:solidFill>
                    <a:srgbClr val="FBB034"/>
                  </a:solidFill>
                </a:rPr>
                <a:t>Limited temporal dependency</a:t>
              </a:r>
              <a:r>
                <a:rPr lang="en-IN" sz="1200" b="1">
                  <a:solidFill>
                    <a:schemeClr val="bg2"/>
                  </a:solidFill>
                </a:rPr>
                <a:t>: </a:t>
              </a:r>
              <a:r>
                <a:rPr lang="en-IN" sz="1200">
                  <a:solidFill>
                    <a:schemeClr val="bg2"/>
                  </a:solidFill>
                </a:rPr>
                <a:t>Although the dataset contains temporal sequences, the fault classes appear to be more strongly distinguishable from feature-level patterns than from long-term temporal dependencies</a:t>
              </a:r>
            </a:p>
            <a:p>
              <a:pPr>
                <a:buClr>
                  <a:srgbClr val="4E84C4"/>
                </a:buClr>
              </a:pPr>
              <a:endParaRPr lang="en-IN" sz="1200">
                <a:solidFill>
                  <a:schemeClr val="bg2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E96ABC5-C869-9B5A-0B9E-951FAC504185}"/>
              </a:ext>
            </a:extLst>
          </p:cNvPr>
          <p:cNvSpPr txBox="1"/>
          <p:nvPr/>
        </p:nvSpPr>
        <p:spPr>
          <a:xfrm flipH="1" flipV="1">
            <a:off x="5072604" y="1058831"/>
            <a:ext cx="52267" cy="4571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8A68D4-37F7-65C7-7C96-47775EBB3DFF}"/>
              </a:ext>
            </a:extLst>
          </p:cNvPr>
          <p:cNvSpPr txBox="1"/>
          <p:nvPr/>
        </p:nvSpPr>
        <p:spPr>
          <a:xfrm>
            <a:off x="5084987" y="1004293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BD2DAB-8C35-5804-4E90-C738DC98A8DB}"/>
              </a:ext>
            </a:extLst>
          </p:cNvPr>
          <p:cNvSpPr txBox="1"/>
          <p:nvPr/>
        </p:nvSpPr>
        <p:spPr>
          <a:xfrm flipH="1">
            <a:off x="4960756" y="1120117"/>
            <a:ext cx="45719" cy="28667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6A9A4F-66B7-1A70-4C71-2D71690A6000}"/>
              </a:ext>
            </a:extLst>
          </p:cNvPr>
          <p:cNvSpPr txBox="1"/>
          <p:nvPr/>
        </p:nvSpPr>
        <p:spPr>
          <a:xfrm flipH="1" flipV="1">
            <a:off x="5072604" y="1058830"/>
            <a:ext cx="45719" cy="4571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>
              <a:solidFill>
                <a:schemeClr val="tx1"/>
              </a:solidFill>
            </a:endParaRP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8C6CB3BA-FB79-662D-9FA0-A65E4E305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3285" y="3301072"/>
            <a:ext cx="663952" cy="63508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0C439394-990B-A7A0-FFAF-DA1AF0A776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44" y="3662378"/>
            <a:ext cx="761868" cy="761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D3BFC9-6024-419C-4CEE-C615FE7DF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711" y="797609"/>
            <a:ext cx="1963237" cy="18388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1A41F2-2B59-90FA-0F82-95BFC63C0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73" y="2979833"/>
            <a:ext cx="2105670" cy="14107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90BC0D-1055-0CE9-21B2-C8E0192EBB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2687" y="2958886"/>
            <a:ext cx="2168328" cy="145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48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ED107-585D-E303-1F38-23803186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C184A4-4B8C-DB4C-39C3-92298911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C99E7-101A-E80D-B567-2164118065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355"/>
            <a:r>
              <a:rPr lang="en-US"/>
              <a:t>TCS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363BDA-ADA4-B654-124A-752824465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89" y="231469"/>
            <a:ext cx="8651153" cy="553027"/>
          </a:xfrm>
        </p:spPr>
        <p:txBody>
          <a:bodyPr/>
          <a:lstStyle/>
          <a:p>
            <a:r>
              <a:rPr lang="en-IN" sz="3200" dirty="0"/>
              <a:t>Future Scope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542B898-8629-3B85-1997-C47543977399}"/>
              </a:ext>
            </a:extLst>
          </p:cNvPr>
          <p:cNvSpPr txBox="1"/>
          <p:nvPr/>
        </p:nvSpPr>
        <p:spPr>
          <a:xfrm>
            <a:off x="694394" y="1010653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B76CFA-306F-9CDF-89E9-0E0621E223A3}"/>
              </a:ext>
            </a:extLst>
          </p:cNvPr>
          <p:cNvGrpSpPr/>
          <p:nvPr/>
        </p:nvGrpSpPr>
        <p:grpSpPr>
          <a:xfrm>
            <a:off x="2416629" y="2135914"/>
            <a:ext cx="4085770" cy="1263396"/>
            <a:chOff x="788670" y="1266515"/>
            <a:chExt cx="6367223" cy="261177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14881CD-F329-AD0C-4135-C26AC9AE409A}"/>
                </a:ext>
              </a:extLst>
            </p:cNvPr>
            <p:cNvSpPr/>
            <p:nvPr/>
          </p:nvSpPr>
          <p:spPr>
            <a:xfrm>
              <a:off x="1980069" y="2267046"/>
              <a:ext cx="1411356" cy="610716"/>
            </a:xfrm>
            <a:custGeom>
              <a:avLst/>
              <a:gdLst>
                <a:gd name="connsiteX0" fmla="*/ 909513 w 1411356"/>
                <a:gd name="connsiteY0" fmla="*/ 0 h 610716"/>
                <a:gd name="connsiteX1" fmla="*/ 296526 w 1411356"/>
                <a:gd name="connsiteY1" fmla="*/ 0 h 610716"/>
                <a:gd name="connsiteX2" fmla="*/ 296526 w 1411356"/>
                <a:gd name="connsiteY2" fmla="*/ 108902 h 610716"/>
                <a:gd name="connsiteX3" fmla="*/ 0 w 1411356"/>
                <a:gd name="connsiteY3" fmla="*/ 610717 h 610716"/>
                <a:gd name="connsiteX4" fmla="*/ 1411357 w 1411356"/>
                <a:gd name="connsiteY4" fmla="*/ 610717 h 610716"/>
                <a:gd name="connsiteX5" fmla="*/ 1411357 w 1411356"/>
                <a:gd name="connsiteY5" fmla="*/ 501815 h 610716"/>
                <a:gd name="connsiteX6" fmla="*/ 909542 w 1411356"/>
                <a:gd name="connsiteY6" fmla="*/ 0 h 61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1356" h="610716">
                  <a:moveTo>
                    <a:pt x="909513" y="0"/>
                  </a:moveTo>
                  <a:lnTo>
                    <a:pt x="296526" y="0"/>
                  </a:lnTo>
                  <a:lnTo>
                    <a:pt x="296526" y="108902"/>
                  </a:lnTo>
                  <a:cubicBezTo>
                    <a:pt x="296526" y="324697"/>
                    <a:pt x="176623" y="512932"/>
                    <a:pt x="0" y="610717"/>
                  </a:cubicBezTo>
                  <a:lnTo>
                    <a:pt x="1411357" y="610717"/>
                  </a:lnTo>
                  <a:lnTo>
                    <a:pt x="1411357" y="501815"/>
                  </a:lnTo>
                  <a:cubicBezTo>
                    <a:pt x="1411357" y="224672"/>
                    <a:pt x="1186685" y="0"/>
                    <a:pt x="909542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AE68BFC-CA25-C60F-F10B-7304F1090F47}"/>
                </a:ext>
              </a:extLst>
            </p:cNvPr>
            <p:cNvSpPr/>
            <p:nvPr/>
          </p:nvSpPr>
          <p:spPr>
            <a:xfrm>
              <a:off x="2278923" y="2267075"/>
              <a:ext cx="1257574" cy="1611218"/>
            </a:xfrm>
            <a:custGeom>
              <a:avLst/>
              <a:gdLst>
                <a:gd name="connsiteX0" fmla="*/ 852763 w 1257574"/>
                <a:gd name="connsiteY0" fmla="*/ 1592666 h 1611218"/>
                <a:gd name="connsiteX1" fmla="*/ 1236625 w 1257574"/>
                <a:gd name="connsiteY1" fmla="*/ 1213896 h 1611218"/>
                <a:gd name="connsiteX2" fmla="*/ 1242184 w 1257574"/>
                <a:gd name="connsiteY2" fmla="*/ 1122805 h 1611218"/>
                <a:gd name="connsiteX3" fmla="*/ 1148765 w 1257574"/>
                <a:gd name="connsiteY3" fmla="*/ 1119662 h 1611218"/>
                <a:gd name="connsiteX4" fmla="*/ 1112241 w 1257574"/>
                <a:gd name="connsiteY4" fmla="*/ 1155720 h 1611218"/>
                <a:gd name="connsiteX5" fmla="*/ 1112241 w 1257574"/>
                <a:gd name="connsiteY5" fmla="*/ 1153916 h 1611218"/>
                <a:gd name="connsiteX6" fmla="*/ 1112503 w 1257574"/>
                <a:gd name="connsiteY6" fmla="*/ 1153916 h 1611218"/>
                <a:gd name="connsiteX7" fmla="*/ 1112503 w 1257574"/>
                <a:gd name="connsiteY7" fmla="*/ 501815 h 1611218"/>
                <a:gd name="connsiteX8" fmla="*/ 610659 w 1257574"/>
                <a:gd name="connsiteY8" fmla="*/ 0 h 1611218"/>
                <a:gd name="connsiteX9" fmla="*/ 0 w 1257574"/>
                <a:gd name="connsiteY9" fmla="*/ 0 h 1611218"/>
                <a:gd name="connsiteX10" fmla="*/ 501757 w 1257574"/>
                <a:gd name="connsiteY10" fmla="*/ 501757 h 1611218"/>
                <a:gd name="connsiteX11" fmla="*/ 501757 w 1257574"/>
                <a:gd name="connsiteY11" fmla="*/ 1153916 h 1611218"/>
                <a:gd name="connsiteX12" fmla="*/ 502834 w 1257574"/>
                <a:gd name="connsiteY12" fmla="*/ 1153916 h 1611218"/>
                <a:gd name="connsiteX13" fmla="*/ 502834 w 1257574"/>
                <a:gd name="connsiteY13" fmla="*/ 1155720 h 1611218"/>
                <a:gd name="connsiteX14" fmla="*/ 468755 w 1257574"/>
                <a:gd name="connsiteY14" fmla="*/ 1122107 h 1611218"/>
                <a:gd name="connsiteX15" fmla="*/ 373182 w 1257574"/>
                <a:gd name="connsiteY15" fmla="*/ 1122427 h 1611218"/>
                <a:gd name="connsiteX16" fmla="*/ 356652 w 1257574"/>
                <a:gd name="connsiteY16" fmla="*/ 1165499 h 1611218"/>
                <a:gd name="connsiteX17" fmla="*/ 375801 w 1257574"/>
                <a:gd name="connsiteY17" fmla="*/ 1211335 h 1611218"/>
                <a:gd name="connsiteX18" fmla="*/ 762254 w 1257574"/>
                <a:gd name="connsiteY18" fmla="*/ 1592666 h 1611218"/>
                <a:gd name="connsiteX19" fmla="*/ 852704 w 1257574"/>
                <a:gd name="connsiteY19" fmla="*/ 1592666 h 1611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7574" h="1611218">
                  <a:moveTo>
                    <a:pt x="852763" y="1592666"/>
                  </a:moveTo>
                  <a:lnTo>
                    <a:pt x="1236625" y="1213896"/>
                  </a:lnTo>
                  <a:cubicBezTo>
                    <a:pt x="1261450" y="1189392"/>
                    <a:pt x="1265349" y="1148852"/>
                    <a:pt x="1242184" y="1122805"/>
                  </a:cubicBezTo>
                  <a:cubicBezTo>
                    <a:pt x="1217476" y="1095012"/>
                    <a:pt x="1174870" y="1093877"/>
                    <a:pt x="1148765" y="1119662"/>
                  </a:cubicBezTo>
                  <a:lnTo>
                    <a:pt x="1112241" y="1155720"/>
                  </a:lnTo>
                  <a:lnTo>
                    <a:pt x="1112241" y="1153916"/>
                  </a:lnTo>
                  <a:lnTo>
                    <a:pt x="1112503" y="1153916"/>
                  </a:lnTo>
                  <a:lnTo>
                    <a:pt x="1112503" y="501815"/>
                  </a:lnTo>
                  <a:cubicBezTo>
                    <a:pt x="1112503" y="224672"/>
                    <a:pt x="887831" y="0"/>
                    <a:pt x="610659" y="0"/>
                  </a:cubicBezTo>
                  <a:lnTo>
                    <a:pt x="0" y="0"/>
                  </a:lnTo>
                  <a:cubicBezTo>
                    <a:pt x="277114" y="0"/>
                    <a:pt x="501757" y="224643"/>
                    <a:pt x="501757" y="501757"/>
                  </a:cubicBezTo>
                  <a:lnTo>
                    <a:pt x="501757" y="1153916"/>
                  </a:lnTo>
                  <a:lnTo>
                    <a:pt x="502834" y="1153916"/>
                  </a:lnTo>
                  <a:lnTo>
                    <a:pt x="502834" y="1155720"/>
                  </a:lnTo>
                  <a:lnTo>
                    <a:pt x="468755" y="1122107"/>
                  </a:lnTo>
                  <a:cubicBezTo>
                    <a:pt x="442388" y="1096089"/>
                    <a:pt x="397977" y="1094925"/>
                    <a:pt x="373182" y="1122427"/>
                  </a:cubicBezTo>
                  <a:cubicBezTo>
                    <a:pt x="362152" y="1134650"/>
                    <a:pt x="356652" y="1150074"/>
                    <a:pt x="356652" y="1165499"/>
                  </a:cubicBezTo>
                  <a:cubicBezTo>
                    <a:pt x="356652" y="1182116"/>
                    <a:pt x="363054" y="1198734"/>
                    <a:pt x="375801" y="1211335"/>
                  </a:cubicBezTo>
                  <a:lnTo>
                    <a:pt x="762254" y="1592666"/>
                  </a:lnTo>
                  <a:cubicBezTo>
                    <a:pt x="787340" y="1617403"/>
                    <a:pt x="827647" y="1617403"/>
                    <a:pt x="852704" y="15926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BB034">
                    <a:shade val="67500"/>
                    <a:satMod val="115000"/>
                  </a:srgbClr>
                </a:gs>
                <a:gs pos="100000">
                  <a:srgbClr val="FBB034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87A167E-5649-EE58-FB5E-3F5CF9E75AD2}"/>
                </a:ext>
              </a:extLst>
            </p:cNvPr>
            <p:cNvSpPr/>
            <p:nvPr/>
          </p:nvSpPr>
          <p:spPr>
            <a:xfrm>
              <a:off x="3189367" y="2267046"/>
              <a:ext cx="1411356" cy="610716"/>
            </a:xfrm>
            <a:custGeom>
              <a:avLst/>
              <a:gdLst>
                <a:gd name="connsiteX0" fmla="*/ 909513 w 1411356"/>
                <a:gd name="connsiteY0" fmla="*/ 610717 h 610716"/>
                <a:gd name="connsiteX1" fmla="*/ 296526 w 1411356"/>
                <a:gd name="connsiteY1" fmla="*/ 610717 h 610716"/>
                <a:gd name="connsiteX2" fmla="*/ 296526 w 1411356"/>
                <a:gd name="connsiteY2" fmla="*/ 501815 h 610716"/>
                <a:gd name="connsiteX3" fmla="*/ 0 w 1411356"/>
                <a:gd name="connsiteY3" fmla="*/ 0 h 610716"/>
                <a:gd name="connsiteX4" fmla="*/ 1411357 w 1411356"/>
                <a:gd name="connsiteY4" fmla="*/ 0 h 610716"/>
                <a:gd name="connsiteX5" fmla="*/ 1411357 w 1411356"/>
                <a:gd name="connsiteY5" fmla="*/ 108902 h 610716"/>
                <a:gd name="connsiteX6" fmla="*/ 909542 w 1411356"/>
                <a:gd name="connsiteY6" fmla="*/ 610717 h 61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1356" h="610716">
                  <a:moveTo>
                    <a:pt x="909513" y="610717"/>
                  </a:moveTo>
                  <a:lnTo>
                    <a:pt x="296526" y="610717"/>
                  </a:lnTo>
                  <a:lnTo>
                    <a:pt x="296526" y="501815"/>
                  </a:lnTo>
                  <a:cubicBezTo>
                    <a:pt x="296526" y="286020"/>
                    <a:pt x="176623" y="97785"/>
                    <a:pt x="0" y="0"/>
                  </a:cubicBezTo>
                  <a:lnTo>
                    <a:pt x="1411357" y="0"/>
                  </a:lnTo>
                  <a:lnTo>
                    <a:pt x="1411357" y="108902"/>
                  </a:lnTo>
                  <a:cubicBezTo>
                    <a:pt x="1411357" y="386045"/>
                    <a:pt x="1186685" y="610717"/>
                    <a:pt x="909542" y="610717"/>
                  </a:cubicBezTo>
                  <a:close/>
                </a:path>
              </a:pathLst>
            </a:custGeom>
            <a:solidFill>
              <a:srgbClr val="3E6A9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A3315F2-7FB2-63FB-7393-637DB141B9E3}"/>
                </a:ext>
              </a:extLst>
            </p:cNvPr>
            <p:cNvSpPr/>
            <p:nvPr/>
          </p:nvSpPr>
          <p:spPr>
            <a:xfrm>
              <a:off x="3488221" y="1266515"/>
              <a:ext cx="1257574" cy="1611218"/>
            </a:xfrm>
            <a:custGeom>
              <a:avLst/>
              <a:gdLst>
                <a:gd name="connsiteX0" fmla="*/ 852763 w 1257574"/>
                <a:gd name="connsiteY0" fmla="*/ 18553 h 1611218"/>
                <a:gd name="connsiteX1" fmla="*/ 1236625 w 1257574"/>
                <a:gd name="connsiteY1" fmla="*/ 397322 h 1611218"/>
                <a:gd name="connsiteX2" fmla="*/ 1242184 w 1257574"/>
                <a:gd name="connsiteY2" fmla="*/ 488413 h 1611218"/>
                <a:gd name="connsiteX3" fmla="*/ 1148765 w 1257574"/>
                <a:gd name="connsiteY3" fmla="*/ 491557 h 1611218"/>
                <a:gd name="connsiteX4" fmla="*/ 1112241 w 1257574"/>
                <a:gd name="connsiteY4" fmla="*/ 455498 h 1611218"/>
                <a:gd name="connsiteX5" fmla="*/ 1112241 w 1257574"/>
                <a:gd name="connsiteY5" fmla="*/ 457303 h 1611218"/>
                <a:gd name="connsiteX6" fmla="*/ 1112503 w 1257574"/>
                <a:gd name="connsiteY6" fmla="*/ 457303 h 1611218"/>
                <a:gd name="connsiteX7" fmla="*/ 1112503 w 1257574"/>
                <a:gd name="connsiteY7" fmla="*/ 1109403 h 1611218"/>
                <a:gd name="connsiteX8" fmla="*/ 610659 w 1257574"/>
                <a:gd name="connsiteY8" fmla="*/ 1611219 h 1611218"/>
                <a:gd name="connsiteX9" fmla="*/ 0 w 1257574"/>
                <a:gd name="connsiteY9" fmla="*/ 1611219 h 1611218"/>
                <a:gd name="connsiteX10" fmla="*/ 501757 w 1257574"/>
                <a:gd name="connsiteY10" fmla="*/ 1109462 h 1611218"/>
                <a:gd name="connsiteX11" fmla="*/ 501757 w 1257574"/>
                <a:gd name="connsiteY11" fmla="*/ 457303 h 1611218"/>
                <a:gd name="connsiteX12" fmla="*/ 502834 w 1257574"/>
                <a:gd name="connsiteY12" fmla="*/ 457303 h 1611218"/>
                <a:gd name="connsiteX13" fmla="*/ 502834 w 1257574"/>
                <a:gd name="connsiteY13" fmla="*/ 455498 h 1611218"/>
                <a:gd name="connsiteX14" fmla="*/ 468755 w 1257574"/>
                <a:gd name="connsiteY14" fmla="*/ 489112 h 1611218"/>
                <a:gd name="connsiteX15" fmla="*/ 373182 w 1257574"/>
                <a:gd name="connsiteY15" fmla="*/ 488792 h 1611218"/>
                <a:gd name="connsiteX16" fmla="*/ 356652 w 1257574"/>
                <a:gd name="connsiteY16" fmla="*/ 445720 h 1611218"/>
                <a:gd name="connsiteX17" fmla="*/ 375830 w 1257574"/>
                <a:gd name="connsiteY17" fmla="*/ 399884 h 1611218"/>
                <a:gd name="connsiteX18" fmla="*/ 762283 w 1257574"/>
                <a:gd name="connsiteY18" fmla="*/ 18553 h 1611218"/>
                <a:gd name="connsiteX19" fmla="*/ 852734 w 1257574"/>
                <a:gd name="connsiteY19" fmla="*/ 18553 h 1611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7574" h="1611218">
                  <a:moveTo>
                    <a:pt x="852763" y="18553"/>
                  </a:moveTo>
                  <a:lnTo>
                    <a:pt x="1236625" y="397322"/>
                  </a:lnTo>
                  <a:cubicBezTo>
                    <a:pt x="1261450" y="421827"/>
                    <a:pt x="1265349" y="462367"/>
                    <a:pt x="1242184" y="488413"/>
                  </a:cubicBezTo>
                  <a:cubicBezTo>
                    <a:pt x="1217476" y="516206"/>
                    <a:pt x="1174870" y="517341"/>
                    <a:pt x="1148765" y="491557"/>
                  </a:cubicBezTo>
                  <a:lnTo>
                    <a:pt x="1112241" y="455498"/>
                  </a:lnTo>
                  <a:lnTo>
                    <a:pt x="1112241" y="457303"/>
                  </a:lnTo>
                  <a:lnTo>
                    <a:pt x="1112503" y="457303"/>
                  </a:lnTo>
                  <a:lnTo>
                    <a:pt x="1112503" y="1109403"/>
                  </a:lnTo>
                  <a:cubicBezTo>
                    <a:pt x="1112503" y="1386547"/>
                    <a:pt x="887831" y="1611219"/>
                    <a:pt x="610659" y="1611219"/>
                  </a:cubicBezTo>
                  <a:lnTo>
                    <a:pt x="0" y="1611219"/>
                  </a:lnTo>
                  <a:cubicBezTo>
                    <a:pt x="277114" y="1611219"/>
                    <a:pt x="501757" y="1386576"/>
                    <a:pt x="501757" y="1109462"/>
                  </a:cubicBezTo>
                  <a:lnTo>
                    <a:pt x="501757" y="457303"/>
                  </a:lnTo>
                  <a:lnTo>
                    <a:pt x="502834" y="457303"/>
                  </a:lnTo>
                  <a:lnTo>
                    <a:pt x="502834" y="455498"/>
                  </a:lnTo>
                  <a:lnTo>
                    <a:pt x="468755" y="489112"/>
                  </a:lnTo>
                  <a:cubicBezTo>
                    <a:pt x="442388" y="515130"/>
                    <a:pt x="397977" y="516294"/>
                    <a:pt x="373182" y="488792"/>
                  </a:cubicBezTo>
                  <a:cubicBezTo>
                    <a:pt x="362152" y="476569"/>
                    <a:pt x="356652" y="461144"/>
                    <a:pt x="356652" y="445720"/>
                  </a:cubicBezTo>
                  <a:cubicBezTo>
                    <a:pt x="356652" y="429102"/>
                    <a:pt x="363054" y="412485"/>
                    <a:pt x="375830" y="399884"/>
                  </a:cubicBezTo>
                  <a:lnTo>
                    <a:pt x="762283" y="18553"/>
                  </a:lnTo>
                  <a:cubicBezTo>
                    <a:pt x="787369" y="-6184"/>
                    <a:pt x="827676" y="-6184"/>
                    <a:pt x="852734" y="1855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E84C4">
                    <a:shade val="67500"/>
                    <a:satMod val="115000"/>
                  </a:srgbClr>
                </a:gs>
                <a:gs pos="100000">
                  <a:srgbClr val="4E84C4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A4D6E81-B230-D9AB-C0B3-381E6D830044}"/>
                </a:ext>
              </a:extLst>
            </p:cNvPr>
            <p:cNvSpPr/>
            <p:nvPr/>
          </p:nvSpPr>
          <p:spPr>
            <a:xfrm>
              <a:off x="4390167" y="2267046"/>
              <a:ext cx="1411356" cy="610716"/>
            </a:xfrm>
            <a:custGeom>
              <a:avLst/>
              <a:gdLst>
                <a:gd name="connsiteX0" fmla="*/ 909513 w 1411356"/>
                <a:gd name="connsiteY0" fmla="*/ 0 h 610716"/>
                <a:gd name="connsiteX1" fmla="*/ 296526 w 1411356"/>
                <a:gd name="connsiteY1" fmla="*/ 0 h 610716"/>
                <a:gd name="connsiteX2" fmla="*/ 296526 w 1411356"/>
                <a:gd name="connsiteY2" fmla="*/ 108902 h 610716"/>
                <a:gd name="connsiteX3" fmla="*/ 0 w 1411356"/>
                <a:gd name="connsiteY3" fmla="*/ 610717 h 610716"/>
                <a:gd name="connsiteX4" fmla="*/ 1411357 w 1411356"/>
                <a:gd name="connsiteY4" fmla="*/ 610717 h 610716"/>
                <a:gd name="connsiteX5" fmla="*/ 1411357 w 1411356"/>
                <a:gd name="connsiteY5" fmla="*/ 501815 h 610716"/>
                <a:gd name="connsiteX6" fmla="*/ 909542 w 1411356"/>
                <a:gd name="connsiteY6" fmla="*/ 0 h 61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1356" h="610716">
                  <a:moveTo>
                    <a:pt x="909513" y="0"/>
                  </a:moveTo>
                  <a:lnTo>
                    <a:pt x="296526" y="0"/>
                  </a:lnTo>
                  <a:lnTo>
                    <a:pt x="296526" y="108902"/>
                  </a:lnTo>
                  <a:cubicBezTo>
                    <a:pt x="296526" y="324697"/>
                    <a:pt x="176623" y="512932"/>
                    <a:pt x="0" y="610717"/>
                  </a:cubicBezTo>
                  <a:lnTo>
                    <a:pt x="1411357" y="610717"/>
                  </a:lnTo>
                  <a:lnTo>
                    <a:pt x="1411357" y="501815"/>
                  </a:lnTo>
                  <a:cubicBezTo>
                    <a:pt x="1411357" y="224672"/>
                    <a:pt x="1186685" y="0"/>
                    <a:pt x="909542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567550C-8035-E894-FF7D-8454E223E3ED}"/>
                </a:ext>
              </a:extLst>
            </p:cNvPr>
            <p:cNvSpPr/>
            <p:nvPr/>
          </p:nvSpPr>
          <p:spPr>
            <a:xfrm>
              <a:off x="4689021" y="2267075"/>
              <a:ext cx="1257574" cy="1611218"/>
            </a:xfrm>
            <a:custGeom>
              <a:avLst/>
              <a:gdLst>
                <a:gd name="connsiteX0" fmla="*/ 852763 w 1257574"/>
                <a:gd name="connsiteY0" fmla="*/ 1592666 h 1611218"/>
                <a:gd name="connsiteX1" fmla="*/ 1236625 w 1257574"/>
                <a:gd name="connsiteY1" fmla="*/ 1213896 h 1611218"/>
                <a:gd name="connsiteX2" fmla="*/ 1242184 w 1257574"/>
                <a:gd name="connsiteY2" fmla="*/ 1122805 h 1611218"/>
                <a:gd name="connsiteX3" fmla="*/ 1148765 w 1257574"/>
                <a:gd name="connsiteY3" fmla="*/ 1119662 h 1611218"/>
                <a:gd name="connsiteX4" fmla="*/ 1112241 w 1257574"/>
                <a:gd name="connsiteY4" fmla="*/ 1155720 h 1611218"/>
                <a:gd name="connsiteX5" fmla="*/ 1112241 w 1257574"/>
                <a:gd name="connsiteY5" fmla="*/ 1153916 h 1611218"/>
                <a:gd name="connsiteX6" fmla="*/ 1112503 w 1257574"/>
                <a:gd name="connsiteY6" fmla="*/ 1153916 h 1611218"/>
                <a:gd name="connsiteX7" fmla="*/ 1112503 w 1257574"/>
                <a:gd name="connsiteY7" fmla="*/ 501815 h 1611218"/>
                <a:gd name="connsiteX8" fmla="*/ 610659 w 1257574"/>
                <a:gd name="connsiteY8" fmla="*/ 0 h 1611218"/>
                <a:gd name="connsiteX9" fmla="*/ 0 w 1257574"/>
                <a:gd name="connsiteY9" fmla="*/ 0 h 1611218"/>
                <a:gd name="connsiteX10" fmla="*/ 501757 w 1257574"/>
                <a:gd name="connsiteY10" fmla="*/ 501757 h 1611218"/>
                <a:gd name="connsiteX11" fmla="*/ 501757 w 1257574"/>
                <a:gd name="connsiteY11" fmla="*/ 1153916 h 1611218"/>
                <a:gd name="connsiteX12" fmla="*/ 502834 w 1257574"/>
                <a:gd name="connsiteY12" fmla="*/ 1153916 h 1611218"/>
                <a:gd name="connsiteX13" fmla="*/ 502834 w 1257574"/>
                <a:gd name="connsiteY13" fmla="*/ 1155720 h 1611218"/>
                <a:gd name="connsiteX14" fmla="*/ 468755 w 1257574"/>
                <a:gd name="connsiteY14" fmla="*/ 1122107 h 1611218"/>
                <a:gd name="connsiteX15" fmla="*/ 373182 w 1257574"/>
                <a:gd name="connsiteY15" fmla="*/ 1122427 h 1611218"/>
                <a:gd name="connsiteX16" fmla="*/ 356652 w 1257574"/>
                <a:gd name="connsiteY16" fmla="*/ 1165499 h 1611218"/>
                <a:gd name="connsiteX17" fmla="*/ 375830 w 1257574"/>
                <a:gd name="connsiteY17" fmla="*/ 1211335 h 1611218"/>
                <a:gd name="connsiteX18" fmla="*/ 762283 w 1257574"/>
                <a:gd name="connsiteY18" fmla="*/ 1592666 h 1611218"/>
                <a:gd name="connsiteX19" fmla="*/ 852734 w 1257574"/>
                <a:gd name="connsiteY19" fmla="*/ 1592666 h 1611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7574" h="1611218">
                  <a:moveTo>
                    <a:pt x="852763" y="1592666"/>
                  </a:moveTo>
                  <a:lnTo>
                    <a:pt x="1236625" y="1213896"/>
                  </a:lnTo>
                  <a:cubicBezTo>
                    <a:pt x="1261450" y="1189392"/>
                    <a:pt x="1265349" y="1148852"/>
                    <a:pt x="1242184" y="1122805"/>
                  </a:cubicBezTo>
                  <a:cubicBezTo>
                    <a:pt x="1217476" y="1095012"/>
                    <a:pt x="1174870" y="1093877"/>
                    <a:pt x="1148765" y="1119662"/>
                  </a:cubicBezTo>
                  <a:lnTo>
                    <a:pt x="1112241" y="1155720"/>
                  </a:lnTo>
                  <a:lnTo>
                    <a:pt x="1112241" y="1153916"/>
                  </a:lnTo>
                  <a:lnTo>
                    <a:pt x="1112503" y="1153916"/>
                  </a:lnTo>
                  <a:lnTo>
                    <a:pt x="1112503" y="501815"/>
                  </a:lnTo>
                  <a:cubicBezTo>
                    <a:pt x="1112503" y="224672"/>
                    <a:pt x="887831" y="0"/>
                    <a:pt x="610659" y="0"/>
                  </a:cubicBezTo>
                  <a:lnTo>
                    <a:pt x="0" y="0"/>
                  </a:lnTo>
                  <a:cubicBezTo>
                    <a:pt x="277115" y="0"/>
                    <a:pt x="501757" y="224643"/>
                    <a:pt x="501757" y="501757"/>
                  </a:cubicBezTo>
                  <a:lnTo>
                    <a:pt x="501757" y="1153916"/>
                  </a:lnTo>
                  <a:lnTo>
                    <a:pt x="502834" y="1153916"/>
                  </a:lnTo>
                  <a:lnTo>
                    <a:pt x="502834" y="1155720"/>
                  </a:lnTo>
                  <a:lnTo>
                    <a:pt x="468755" y="1122107"/>
                  </a:lnTo>
                  <a:cubicBezTo>
                    <a:pt x="442388" y="1096089"/>
                    <a:pt x="397977" y="1094925"/>
                    <a:pt x="373182" y="1122427"/>
                  </a:cubicBezTo>
                  <a:cubicBezTo>
                    <a:pt x="362152" y="1134650"/>
                    <a:pt x="356652" y="1150074"/>
                    <a:pt x="356652" y="1165499"/>
                  </a:cubicBezTo>
                  <a:cubicBezTo>
                    <a:pt x="356652" y="1182116"/>
                    <a:pt x="363054" y="1198734"/>
                    <a:pt x="375830" y="1211335"/>
                  </a:cubicBezTo>
                  <a:lnTo>
                    <a:pt x="762283" y="1592666"/>
                  </a:lnTo>
                  <a:cubicBezTo>
                    <a:pt x="787369" y="1617403"/>
                    <a:pt x="827676" y="1617403"/>
                    <a:pt x="852734" y="15926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BB034">
                    <a:shade val="67500"/>
                    <a:satMod val="115000"/>
                  </a:srgbClr>
                </a:gs>
                <a:gs pos="100000">
                  <a:srgbClr val="FBB034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7DC60A9-FCD5-5E93-9A9C-898FB6F1D774}"/>
                </a:ext>
              </a:extLst>
            </p:cNvPr>
            <p:cNvSpPr/>
            <p:nvPr/>
          </p:nvSpPr>
          <p:spPr>
            <a:xfrm>
              <a:off x="5599465" y="2267046"/>
              <a:ext cx="1411356" cy="610716"/>
            </a:xfrm>
            <a:custGeom>
              <a:avLst/>
              <a:gdLst>
                <a:gd name="connsiteX0" fmla="*/ 909512 w 1411356"/>
                <a:gd name="connsiteY0" fmla="*/ 610717 h 610716"/>
                <a:gd name="connsiteX1" fmla="*/ 296525 w 1411356"/>
                <a:gd name="connsiteY1" fmla="*/ 610717 h 610716"/>
                <a:gd name="connsiteX2" fmla="*/ 296525 w 1411356"/>
                <a:gd name="connsiteY2" fmla="*/ 501815 h 610716"/>
                <a:gd name="connsiteX3" fmla="*/ 0 w 1411356"/>
                <a:gd name="connsiteY3" fmla="*/ 0 h 610716"/>
                <a:gd name="connsiteX4" fmla="*/ 1411357 w 1411356"/>
                <a:gd name="connsiteY4" fmla="*/ 0 h 610716"/>
                <a:gd name="connsiteX5" fmla="*/ 1411357 w 1411356"/>
                <a:gd name="connsiteY5" fmla="*/ 108902 h 610716"/>
                <a:gd name="connsiteX6" fmla="*/ 909541 w 1411356"/>
                <a:gd name="connsiteY6" fmla="*/ 610717 h 61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1356" h="610716">
                  <a:moveTo>
                    <a:pt x="909512" y="610717"/>
                  </a:moveTo>
                  <a:lnTo>
                    <a:pt x="296525" y="610717"/>
                  </a:lnTo>
                  <a:lnTo>
                    <a:pt x="296525" y="501815"/>
                  </a:lnTo>
                  <a:cubicBezTo>
                    <a:pt x="296525" y="286020"/>
                    <a:pt x="176623" y="97785"/>
                    <a:pt x="0" y="0"/>
                  </a:cubicBezTo>
                  <a:lnTo>
                    <a:pt x="1411357" y="0"/>
                  </a:lnTo>
                  <a:lnTo>
                    <a:pt x="1411357" y="108902"/>
                  </a:lnTo>
                  <a:cubicBezTo>
                    <a:pt x="1411357" y="386045"/>
                    <a:pt x="1186685" y="610717"/>
                    <a:pt x="909541" y="610717"/>
                  </a:cubicBezTo>
                  <a:close/>
                </a:path>
              </a:pathLst>
            </a:custGeom>
            <a:solidFill>
              <a:srgbClr val="3E6A9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C5EC42-0E41-904C-ABDF-A5634E66A127}"/>
                </a:ext>
              </a:extLst>
            </p:cNvPr>
            <p:cNvSpPr/>
            <p:nvPr/>
          </p:nvSpPr>
          <p:spPr>
            <a:xfrm>
              <a:off x="5898319" y="1266515"/>
              <a:ext cx="1257574" cy="1611218"/>
            </a:xfrm>
            <a:custGeom>
              <a:avLst/>
              <a:gdLst>
                <a:gd name="connsiteX0" fmla="*/ 852763 w 1257574"/>
                <a:gd name="connsiteY0" fmla="*/ 18553 h 1611218"/>
                <a:gd name="connsiteX1" fmla="*/ 1236625 w 1257574"/>
                <a:gd name="connsiteY1" fmla="*/ 397322 h 1611218"/>
                <a:gd name="connsiteX2" fmla="*/ 1242184 w 1257574"/>
                <a:gd name="connsiteY2" fmla="*/ 488413 h 1611218"/>
                <a:gd name="connsiteX3" fmla="*/ 1148765 w 1257574"/>
                <a:gd name="connsiteY3" fmla="*/ 491557 h 1611218"/>
                <a:gd name="connsiteX4" fmla="*/ 1112241 w 1257574"/>
                <a:gd name="connsiteY4" fmla="*/ 455498 h 1611218"/>
                <a:gd name="connsiteX5" fmla="*/ 1112241 w 1257574"/>
                <a:gd name="connsiteY5" fmla="*/ 457303 h 1611218"/>
                <a:gd name="connsiteX6" fmla="*/ 1112503 w 1257574"/>
                <a:gd name="connsiteY6" fmla="*/ 457303 h 1611218"/>
                <a:gd name="connsiteX7" fmla="*/ 1112503 w 1257574"/>
                <a:gd name="connsiteY7" fmla="*/ 1109403 h 1611218"/>
                <a:gd name="connsiteX8" fmla="*/ 610658 w 1257574"/>
                <a:gd name="connsiteY8" fmla="*/ 1611219 h 1611218"/>
                <a:gd name="connsiteX9" fmla="*/ 0 w 1257574"/>
                <a:gd name="connsiteY9" fmla="*/ 1611219 h 1611218"/>
                <a:gd name="connsiteX10" fmla="*/ 501757 w 1257574"/>
                <a:gd name="connsiteY10" fmla="*/ 1109462 h 1611218"/>
                <a:gd name="connsiteX11" fmla="*/ 501757 w 1257574"/>
                <a:gd name="connsiteY11" fmla="*/ 457303 h 1611218"/>
                <a:gd name="connsiteX12" fmla="*/ 502834 w 1257574"/>
                <a:gd name="connsiteY12" fmla="*/ 457303 h 1611218"/>
                <a:gd name="connsiteX13" fmla="*/ 502834 w 1257574"/>
                <a:gd name="connsiteY13" fmla="*/ 455498 h 1611218"/>
                <a:gd name="connsiteX14" fmla="*/ 468755 w 1257574"/>
                <a:gd name="connsiteY14" fmla="*/ 489112 h 1611218"/>
                <a:gd name="connsiteX15" fmla="*/ 373182 w 1257574"/>
                <a:gd name="connsiteY15" fmla="*/ 488792 h 1611218"/>
                <a:gd name="connsiteX16" fmla="*/ 356652 w 1257574"/>
                <a:gd name="connsiteY16" fmla="*/ 445720 h 1611218"/>
                <a:gd name="connsiteX17" fmla="*/ 375830 w 1257574"/>
                <a:gd name="connsiteY17" fmla="*/ 399884 h 1611218"/>
                <a:gd name="connsiteX18" fmla="*/ 762283 w 1257574"/>
                <a:gd name="connsiteY18" fmla="*/ 18553 h 1611218"/>
                <a:gd name="connsiteX19" fmla="*/ 852734 w 1257574"/>
                <a:gd name="connsiteY19" fmla="*/ 18553 h 1611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7574" h="1611218">
                  <a:moveTo>
                    <a:pt x="852763" y="18553"/>
                  </a:moveTo>
                  <a:lnTo>
                    <a:pt x="1236625" y="397322"/>
                  </a:lnTo>
                  <a:cubicBezTo>
                    <a:pt x="1261449" y="421827"/>
                    <a:pt x="1265349" y="462367"/>
                    <a:pt x="1242184" y="488413"/>
                  </a:cubicBezTo>
                  <a:cubicBezTo>
                    <a:pt x="1217476" y="516206"/>
                    <a:pt x="1174869" y="517341"/>
                    <a:pt x="1148765" y="491557"/>
                  </a:cubicBezTo>
                  <a:lnTo>
                    <a:pt x="1112241" y="455498"/>
                  </a:lnTo>
                  <a:lnTo>
                    <a:pt x="1112241" y="457303"/>
                  </a:lnTo>
                  <a:lnTo>
                    <a:pt x="1112503" y="457303"/>
                  </a:lnTo>
                  <a:lnTo>
                    <a:pt x="1112503" y="1109403"/>
                  </a:lnTo>
                  <a:cubicBezTo>
                    <a:pt x="1112503" y="1386547"/>
                    <a:pt x="887831" y="1611219"/>
                    <a:pt x="610658" y="1611219"/>
                  </a:cubicBezTo>
                  <a:lnTo>
                    <a:pt x="0" y="1611219"/>
                  </a:lnTo>
                  <a:cubicBezTo>
                    <a:pt x="277114" y="1611219"/>
                    <a:pt x="501757" y="1386576"/>
                    <a:pt x="501757" y="1109462"/>
                  </a:cubicBezTo>
                  <a:lnTo>
                    <a:pt x="501757" y="457303"/>
                  </a:lnTo>
                  <a:lnTo>
                    <a:pt x="502834" y="457303"/>
                  </a:lnTo>
                  <a:lnTo>
                    <a:pt x="502834" y="455498"/>
                  </a:lnTo>
                  <a:lnTo>
                    <a:pt x="468755" y="489112"/>
                  </a:lnTo>
                  <a:cubicBezTo>
                    <a:pt x="442388" y="515130"/>
                    <a:pt x="397977" y="516294"/>
                    <a:pt x="373182" y="488792"/>
                  </a:cubicBezTo>
                  <a:cubicBezTo>
                    <a:pt x="362152" y="476569"/>
                    <a:pt x="356652" y="461144"/>
                    <a:pt x="356652" y="445720"/>
                  </a:cubicBezTo>
                  <a:cubicBezTo>
                    <a:pt x="356652" y="429102"/>
                    <a:pt x="363054" y="412485"/>
                    <a:pt x="375830" y="399884"/>
                  </a:cubicBezTo>
                  <a:lnTo>
                    <a:pt x="762283" y="18553"/>
                  </a:lnTo>
                  <a:cubicBezTo>
                    <a:pt x="787369" y="-6184"/>
                    <a:pt x="827676" y="-6184"/>
                    <a:pt x="852734" y="1855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E84C4">
                    <a:shade val="67500"/>
                    <a:satMod val="115000"/>
                  </a:srgbClr>
                </a:gs>
                <a:gs pos="100000">
                  <a:srgbClr val="4E84C4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1193B-DA22-8B2D-05C4-52578AF142ED}"/>
                </a:ext>
              </a:extLst>
            </p:cNvPr>
            <p:cNvSpPr/>
            <p:nvPr/>
          </p:nvSpPr>
          <p:spPr>
            <a:xfrm>
              <a:off x="788670" y="2267017"/>
              <a:ext cx="1416536" cy="610716"/>
            </a:xfrm>
            <a:custGeom>
              <a:avLst/>
              <a:gdLst>
                <a:gd name="connsiteX0" fmla="*/ 1416537 w 1416536"/>
                <a:gd name="connsiteY0" fmla="*/ 108902 h 610716"/>
                <a:gd name="connsiteX1" fmla="*/ 1416537 w 1416536"/>
                <a:gd name="connsiteY1" fmla="*/ 0 h 610716"/>
                <a:gd name="connsiteX2" fmla="*/ 0 w 1416536"/>
                <a:gd name="connsiteY2" fmla="*/ 0 h 610716"/>
                <a:gd name="connsiteX3" fmla="*/ 0 w 1416536"/>
                <a:gd name="connsiteY3" fmla="*/ 610717 h 610716"/>
                <a:gd name="connsiteX4" fmla="*/ 914693 w 1416536"/>
                <a:gd name="connsiteY4" fmla="*/ 610717 h 610716"/>
                <a:gd name="connsiteX5" fmla="*/ 1416508 w 1416536"/>
                <a:gd name="connsiteY5" fmla="*/ 108902 h 61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6536" h="610716">
                  <a:moveTo>
                    <a:pt x="1416537" y="108902"/>
                  </a:moveTo>
                  <a:lnTo>
                    <a:pt x="1416537" y="0"/>
                  </a:lnTo>
                  <a:lnTo>
                    <a:pt x="0" y="0"/>
                  </a:lnTo>
                  <a:lnTo>
                    <a:pt x="0" y="610717"/>
                  </a:lnTo>
                  <a:lnTo>
                    <a:pt x="914693" y="610717"/>
                  </a:lnTo>
                  <a:cubicBezTo>
                    <a:pt x="1191836" y="610717"/>
                    <a:pt x="1416508" y="386045"/>
                    <a:pt x="1416508" y="108902"/>
                  </a:cubicBezTo>
                  <a:close/>
                </a:path>
              </a:pathLst>
            </a:custGeom>
            <a:solidFill>
              <a:srgbClr val="3E6A9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4F5ABB5-887E-DA62-8666-813917ACFD96}"/>
                </a:ext>
              </a:extLst>
            </p:cNvPr>
            <p:cNvSpPr/>
            <p:nvPr/>
          </p:nvSpPr>
          <p:spPr>
            <a:xfrm>
              <a:off x="1092704" y="1266515"/>
              <a:ext cx="1257574" cy="1611218"/>
            </a:xfrm>
            <a:custGeom>
              <a:avLst/>
              <a:gdLst>
                <a:gd name="connsiteX0" fmla="*/ 852763 w 1257574"/>
                <a:gd name="connsiteY0" fmla="*/ 18553 h 1611218"/>
                <a:gd name="connsiteX1" fmla="*/ 1236625 w 1257574"/>
                <a:gd name="connsiteY1" fmla="*/ 397322 h 1611218"/>
                <a:gd name="connsiteX2" fmla="*/ 1242184 w 1257574"/>
                <a:gd name="connsiteY2" fmla="*/ 488413 h 1611218"/>
                <a:gd name="connsiteX3" fmla="*/ 1148765 w 1257574"/>
                <a:gd name="connsiteY3" fmla="*/ 491557 h 1611218"/>
                <a:gd name="connsiteX4" fmla="*/ 1112241 w 1257574"/>
                <a:gd name="connsiteY4" fmla="*/ 455498 h 1611218"/>
                <a:gd name="connsiteX5" fmla="*/ 1112241 w 1257574"/>
                <a:gd name="connsiteY5" fmla="*/ 457303 h 1611218"/>
                <a:gd name="connsiteX6" fmla="*/ 1112532 w 1257574"/>
                <a:gd name="connsiteY6" fmla="*/ 457303 h 1611218"/>
                <a:gd name="connsiteX7" fmla="*/ 1112532 w 1257574"/>
                <a:gd name="connsiteY7" fmla="*/ 1109403 h 1611218"/>
                <a:gd name="connsiteX8" fmla="*/ 610688 w 1257574"/>
                <a:gd name="connsiteY8" fmla="*/ 1611219 h 1611218"/>
                <a:gd name="connsiteX9" fmla="*/ 0 w 1257574"/>
                <a:gd name="connsiteY9" fmla="*/ 1611219 h 1611218"/>
                <a:gd name="connsiteX10" fmla="*/ 501757 w 1257574"/>
                <a:gd name="connsiteY10" fmla="*/ 1109462 h 1611218"/>
                <a:gd name="connsiteX11" fmla="*/ 501757 w 1257574"/>
                <a:gd name="connsiteY11" fmla="*/ 457303 h 1611218"/>
                <a:gd name="connsiteX12" fmla="*/ 502834 w 1257574"/>
                <a:gd name="connsiteY12" fmla="*/ 457303 h 1611218"/>
                <a:gd name="connsiteX13" fmla="*/ 502834 w 1257574"/>
                <a:gd name="connsiteY13" fmla="*/ 455498 h 1611218"/>
                <a:gd name="connsiteX14" fmla="*/ 468755 w 1257574"/>
                <a:gd name="connsiteY14" fmla="*/ 489112 h 1611218"/>
                <a:gd name="connsiteX15" fmla="*/ 373182 w 1257574"/>
                <a:gd name="connsiteY15" fmla="*/ 488792 h 1611218"/>
                <a:gd name="connsiteX16" fmla="*/ 356652 w 1257574"/>
                <a:gd name="connsiteY16" fmla="*/ 445720 h 1611218"/>
                <a:gd name="connsiteX17" fmla="*/ 375801 w 1257574"/>
                <a:gd name="connsiteY17" fmla="*/ 399884 h 1611218"/>
                <a:gd name="connsiteX18" fmla="*/ 762283 w 1257574"/>
                <a:gd name="connsiteY18" fmla="*/ 18553 h 1611218"/>
                <a:gd name="connsiteX19" fmla="*/ 852734 w 1257574"/>
                <a:gd name="connsiteY19" fmla="*/ 18553 h 1611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7574" h="1611218">
                  <a:moveTo>
                    <a:pt x="852763" y="18553"/>
                  </a:moveTo>
                  <a:lnTo>
                    <a:pt x="1236625" y="397322"/>
                  </a:lnTo>
                  <a:cubicBezTo>
                    <a:pt x="1261450" y="421827"/>
                    <a:pt x="1265349" y="462367"/>
                    <a:pt x="1242184" y="488413"/>
                  </a:cubicBezTo>
                  <a:cubicBezTo>
                    <a:pt x="1217476" y="516206"/>
                    <a:pt x="1174870" y="517341"/>
                    <a:pt x="1148765" y="491557"/>
                  </a:cubicBezTo>
                  <a:lnTo>
                    <a:pt x="1112241" y="455498"/>
                  </a:lnTo>
                  <a:lnTo>
                    <a:pt x="1112241" y="457303"/>
                  </a:lnTo>
                  <a:lnTo>
                    <a:pt x="1112532" y="457303"/>
                  </a:lnTo>
                  <a:lnTo>
                    <a:pt x="1112532" y="1109403"/>
                  </a:lnTo>
                  <a:cubicBezTo>
                    <a:pt x="1112532" y="1386547"/>
                    <a:pt x="887860" y="1611219"/>
                    <a:pt x="610688" y="1611219"/>
                  </a:cubicBezTo>
                  <a:lnTo>
                    <a:pt x="0" y="1611219"/>
                  </a:lnTo>
                  <a:cubicBezTo>
                    <a:pt x="277114" y="1611219"/>
                    <a:pt x="501757" y="1386576"/>
                    <a:pt x="501757" y="1109462"/>
                  </a:cubicBezTo>
                  <a:lnTo>
                    <a:pt x="501757" y="457303"/>
                  </a:lnTo>
                  <a:lnTo>
                    <a:pt x="502834" y="457303"/>
                  </a:lnTo>
                  <a:lnTo>
                    <a:pt x="502834" y="455498"/>
                  </a:lnTo>
                  <a:lnTo>
                    <a:pt x="468755" y="489112"/>
                  </a:lnTo>
                  <a:cubicBezTo>
                    <a:pt x="442388" y="515130"/>
                    <a:pt x="397977" y="516294"/>
                    <a:pt x="373182" y="488792"/>
                  </a:cubicBezTo>
                  <a:cubicBezTo>
                    <a:pt x="362152" y="476569"/>
                    <a:pt x="356652" y="461144"/>
                    <a:pt x="356652" y="445720"/>
                  </a:cubicBezTo>
                  <a:cubicBezTo>
                    <a:pt x="356652" y="429102"/>
                    <a:pt x="363054" y="412485"/>
                    <a:pt x="375801" y="399884"/>
                  </a:cubicBezTo>
                  <a:lnTo>
                    <a:pt x="762283" y="18553"/>
                  </a:lnTo>
                  <a:cubicBezTo>
                    <a:pt x="787369" y="-6184"/>
                    <a:pt x="827676" y="-6184"/>
                    <a:pt x="852734" y="1855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E84C4">
                    <a:shade val="67500"/>
                    <a:satMod val="115000"/>
                  </a:srgbClr>
                </a:gs>
                <a:gs pos="100000">
                  <a:srgbClr val="4E84C4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377766F3-6E20-1DAC-7BEE-95FDEF37917E}"/>
              </a:ext>
            </a:extLst>
          </p:cNvPr>
          <p:cNvSpPr/>
          <p:nvPr/>
        </p:nvSpPr>
        <p:spPr>
          <a:xfrm>
            <a:off x="2339302" y="3481041"/>
            <a:ext cx="2218533" cy="1263397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30378BA7-91B5-BC62-21A1-44ADBBEE88E3}"/>
              </a:ext>
            </a:extLst>
          </p:cNvPr>
          <p:cNvSpPr/>
          <p:nvPr/>
        </p:nvSpPr>
        <p:spPr>
          <a:xfrm>
            <a:off x="3509959" y="790762"/>
            <a:ext cx="2218533" cy="126339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E5ADEF10-B18F-0D9B-F41F-DA6FAD2E19A9}"/>
              </a:ext>
            </a:extLst>
          </p:cNvPr>
          <p:cNvSpPr/>
          <p:nvPr/>
        </p:nvSpPr>
        <p:spPr>
          <a:xfrm>
            <a:off x="5900580" y="784496"/>
            <a:ext cx="2218533" cy="126339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7AC285F-35F9-6455-BF2D-5A70B660BAA4}"/>
              </a:ext>
            </a:extLst>
          </p:cNvPr>
          <p:cNvSpPr/>
          <p:nvPr/>
        </p:nvSpPr>
        <p:spPr>
          <a:xfrm>
            <a:off x="1107731" y="784496"/>
            <a:ext cx="2218533" cy="126339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2B155AFF-070C-79E1-82D3-657376D2A563}"/>
              </a:ext>
            </a:extLst>
          </p:cNvPr>
          <p:cNvSpPr/>
          <p:nvPr/>
        </p:nvSpPr>
        <p:spPr>
          <a:xfrm>
            <a:off x="4731126" y="3481041"/>
            <a:ext cx="2218533" cy="1263397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727274D-E7C2-E3FE-5BB1-86C7C3E28BEF}"/>
              </a:ext>
            </a:extLst>
          </p:cNvPr>
          <p:cNvSpPr txBox="1"/>
          <p:nvPr/>
        </p:nvSpPr>
        <p:spPr>
          <a:xfrm>
            <a:off x="4702869" y="33759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2356B7A-D027-76FF-EBAC-A5BD6C309241}"/>
              </a:ext>
            </a:extLst>
          </p:cNvPr>
          <p:cNvSpPr txBox="1"/>
          <p:nvPr/>
        </p:nvSpPr>
        <p:spPr>
          <a:xfrm>
            <a:off x="2138424" y="12239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84" name="Title 5">
            <a:extLst>
              <a:ext uri="{FF2B5EF4-FFF2-40B4-BE49-F238E27FC236}">
                <a16:creationId xmlns:a16="http://schemas.microsoft.com/office/drawing/2014/main" id="{9D11449A-C8F0-4A55-74EC-5DD9AA81CDEC}"/>
              </a:ext>
            </a:extLst>
          </p:cNvPr>
          <p:cNvSpPr txBox="1">
            <a:spLocks/>
          </p:cNvSpPr>
          <p:nvPr/>
        </p:nvSpPr>
        <p:spPr>
          <a:xfrm>
            <a:off x="1258246" y="879257"/>
            <a:ext cx="1929110" cy="5879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algn="ctr" defTabSz="914355">
              <a:lnSpc>
                <a:spcPct val="90000"/>
              </a:lnSpc>
              <a:spcBef>
                <a:spcPct val="0"/>
              </a:spcBef>
              <a:buNone/>
              <a:defRPr sz="1100" b="0" kern="0" baseline="0">
                <a:ln w="0"/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Real-Time Monitoring Platform</a:t>
            </a:r>
            <a:br>
              <a:rPr lang="en-IN" dirty="0"/>
            </a:br>
            <a:r>
              <a:rPr lang="en-IN" dirty="0"/>
              <a:t>Convert the model into a system that continuously monitors network traffic and detects anomalies in real time.</a:t>
            </a:r>
          </a:p>
          <a:p>
            <a:endParaRPr lang="en-US" sz="1200" dirty="0"/>
          </a:p>
        </p:txBody>
      </p:sp>
      <p:sp>
        <p:nvSpPr>
          <p:cNvPr id="186" name="Title 5">
            <a:extLst>
              <a:ext uri="{FF2B5EF4-FFF2-40B4-BE49-F238E27FC236}">
                <a16:creationId xmlns:a16="http://schemas.microsoft.com/office/drawing/2014/main" id="{A617FF8B-2BD3-2246-DA3E-D4A6816B8F7E}"/>
              </a:ext>
            </a:extLst>
          </p:cNvPr>
          <p:cNvSpPr txBox="1">
            <a:spLocks/>
          </p:cNvSpPr>
          <p:nvPr/>
        </p:nvSpPr>
        <p:spPr>
          <a:xfrm>
            <a:off x="3656206" y="851637"/>
            <a:ext cx="1926037" cy="5677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algn="ctr" defTabSz="914355">
              <a:lnSpc>
                <a:spcPct val="90000"/>
              </a:lnSpc>
              <a:spcBef>
                <a:spcPct val="0"/>
              </a:spcBef>
              <a:buNone/>
              <a:defRPr sz="1100" b="0" kern="0" baseline="0">
                <a:ln w="0"/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IN" b="1" dirty="0"/>
              <a:t>Automated Fault Identification &amp; Alerts</a:t>
            </a:r>
            <a:br>
              <a:rPr lang="en-IN" dirty="0"/>
            </a:br>
            <a:r>
              <a:rPr lang="en-IN" dirty="0"/>
              <a:t>Automatically classify network problems and provide instant alerts to administrators with fault severity.</a:t>
            </a:r>
            <a:endParaRPr lang="en-IN" dirty="0">
              <a:ea typeface="Calibri"/>
              <a:cs typeface="Calibri"/>
            </a:endParaRPr>
          </a:p>
        </p:txBody>
      </p:sp>
      <p:sp>
        <p:nvSpPr>
          <p:cNvPr id="188" name="Title 5">
            <a:extLst>
              <a:ext uri="{FF2B5EF4-FFF2-40B4-BE49-F238E27FC236}">
                <a16:creationId xmlns:a16="http://schemas.microsoft.com/office/drawing/2014/main" id="{04ED3423-27F2-F5EE-1F43-A0C7DA4DCD99}"/>
              </a:ext>
            </a:extLst>
          </p:cNvPr>
          <p:cNvSpPr txBox="1">
            <a:spLocks/>
          </p:cNvSpPr>
          <p:nvPr/>
        </p:nvSpPr>
        <p:spPr>
          <a:xfrm>
            <a:off x="5990670" y="842100"/>
            <a:ext cx="2038351" cy="5677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400" b="0" kern="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t"/>
            <a:r>
              <a:rPr lang="en-IN" sz="1100" b="1" dirty="0"/>
              <a:t>Interactive Monitoring Dashboard</a:t>
            </a:r>
            <a:br>
              <a:rPr lang="en-IN" sz="1100" dirty="0"/>
            </a:br>
            <a:r>
              <a:rPr lang="en-IN" sz="1100" dirty="0"/>
              <a:t>Develop a user-friendly dashboard displaying network health, detected anomalies, trends, model confidence, and historical incidents.</a:t>
            </a:r>
          </a:p>
        </p:txBody>
      </p:sp>
      <p:sp>
        <p:nvSpPr>
          <p:cNvPr id="190" name="Title 5">
            <a:extLst>
              <a:ext uri="{FF2B5EF4-FFF2-40B4-BE49-F238E27FC236}">
                <a16:creationId xmlns:a16="http://schemas.microsoft.com/office/drawing/2014/main" id="{7E13D0D7-B1B5-EE5A-9C73-8B62C3C11A59}"/>
              </a:ext>
            </a:extLst>
          </p:cNvPr>
          <p:cNvSpPr txBox="1">
            <a:spLocks/>
          </p:cNvSpPr>
          <p:nvPr/>
        </p:nvSpPr>
        <p:spPr>
          <a:xfrm>
            <a:off x="2485758" y="3548182"/>
            <a:ext cx="1925620" cy="6292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algn="ctr" defTabSz="914355">
              <a:lnSpc>
                <a:spcPct val="90000"/>
              </a:lnSpc>
              <a:spcBef>
                <a:spcPct val="0"/>
              </a:spcBef>
              <a:buNone/>
              <a:defRPr sz="1100" b="0" kern="0" baseline="0">
                <a:ln w="0"/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IN" b="1" dirty="0"/>
              <a:t>Automated Root-Cause Analysis</a:t>
            </a:r>
            <a:br>
              <a:rPr lang="en-IN" dirty="0"/>
            </a:br>
            <a:r>
              <a:rPr lang="en-IN" dirty="0"/>
              <a:t>Extend the system beyond detection to identify the </a:t>
            </a:r>
            <a:r>
              <a:rPr lang="en-IN" b="1" dirty="0"/>
              <a:t>probable cause of a network fault</a:t>
            </a:r>
            <a:r>
              <a:rPr lang="en-IN" dirty="0"/>
              <a:t> and recommend corrective actions.</a:t>
            </a:r>
          </a:p>
        </p:txBody>
      </p:sp>
      <p:sp>
        <p:nvSpPr>
          <p:cNvPr id="192" name="Title 5">
            <a:extLst>
              <a:ext uri="{FF2B5EF4-FFF2-40B4-BE49-F238E27FC236}">
                <a16:creationId xmlns:a16="http://schemas.microsoft.com/office/drawing/2014/main" id="{908900D6-D8F8-531C-0B85-10A0C9B7C0CB}"/>
              </a:ext>
            </a:extLst>
          </p:cNvPr>
          <p:cNvSpPr txBox="1">
            <a:spLocks/>
          </p:cNvSpPr>
          <p:nvPr/>
        </p:nvSpPr>
        <p:spPr>
          <a:xfrm>
            <a:off x="4913983" y="3503650"/>
            <a:ext cx="1888510" cy="14085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algn="ctr" defTabSz="914355">
              <a:lnSpc>
                <a:spcPct val="90000"/>
              </a:lnSpc>
              <a:spcBef>
                <a:spcPct val="0"/>
              </a:spcBef>
              <a:buNone/>
              <a:defRPr sz="1100" b="0" kern="0" baseline="0">
                <a:ln w="0"/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IN" b="1" dirty="0"/>
              <a:t>Scalable &amp; Deployable Solution</a:t>
            </a:r>
            <a:br>
              <a:rPr lang="en-IN" dirty="0"/>
            </a:br>
            <a:r>
              <a:rPr lang="en-IN" dirty="0"/>
              <a:t>Package the solution for deployment across different enterprise and heterogeneous networks, with continuous</a:t>
            </a:r>
            <a:r>
              <a:rPr lang="en-IN"/>
              <a:t> </a:t>
            </a:r>
            <a:r>
              <a:rPr lang="en-IN" dirty="0"/>
              <a:t>updates.</a:t>
            </a:r>
          </a:p>
        </p:txBody>
      </p:sp>
    </p:spTree>
    <p:extLst>
      <p:ext uri="{BB962C8B-B14F-4D97-AF65-F5344CB8AC3E}">
        <p14:creationId xmlns:p14="http://schemas.microsoft.com/office/powerpoint/2010/main" val="2477074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4A096-8639-F8ED-9608-8B72A096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BD64D3-3333-BF77-550C-C19886EB3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28" y="1652624"/>
            <a:ext cx="3568867" cy="554107"/>
          </a:xfrm>
        </p:spPr>
        <p:txBody>
          <a:bodyPr vert="horz" wrap="square" lIns="0" tIns="12065" rIns="0" bIns="0" rtlCol="0" anchor="t">
            <a:noAutofit/>
          </a:bodyPr>
          <a:lstStyle/>
          <a:p>
            <a:r>
              <a:rPr lang="en-US" sz="5400" b="1">
                <a:ea typeface="Calibri"/>
              </a:rPr>
              <a:t>Thank You</a:t>
            </a:r>
            <a:endParaRPr lang="en-US" sz="5400" b="1"/>
          </a:p>
        </p:txBody>
      </p:sp>
    </p:spTree>
    <p:extLst>
      <p:ext uri="{BB962C8B-B14F-4D97-AF65-F5344CB8AC3E}">
        <p14:creationId xmlns:p14="http://schemas.microsoft.com/office/powerpoint/2010/main" val="56863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9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D96C1006-7CC9-49CD-B790-A73E4DB067D6}"/>
    </a:ext>
  </a:extLst>
</a:theme>
</file>

<file path=ppt/theme/theme2.xml><?xml version="1.0" encoding="utf-8"?>
<a:theme xmlns:a="http://schemas.openxmlformats.org/drawingml/2006/main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9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24E31B8B-E904-4755-8363-F13A11812D54}"/>
    </a:ext>
  </a:extLst>
</a:theme>
</file>

<file path=ppt/theme/theme3.xml><?xml version="1.0" encoding="utf-8"?>
<a:theme xmlns:a="http://schemas.openxmlformats.org/drawingml/2006/main" name="Title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0A68DC9D-FC78-47F8-B5EF-E4AE038BA57E}"/>
    </a:ext>
  </a:extLst>
</a:theme>
</file>

<file path=ppt/theme/theme4.xml><?xml version="1.0" encoding="utf-8"?>
<a:theme xmlns:a="http://schemas.openxmlformats.org/drawingml/2006/main" name="Image Hol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B25A0875-896C-4BC3-ACB9-E50F4301D25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429409C18204B8E50994481C8BE12" ma:contentTypeVersion="6" ma:contentTypeDescription="Create a new document." ma:contentTypeScope="" ma:versionID="e621c65745e5ed516f140f6c14fc97ac">
  <xsd:schema xmlns:xsd="http://www.w3.org/2001/XMLSchema" xmlns:xs="http://www.w3.org/2001/XMLSchema" xmlns:p="http://schemas.microsoft.com/office/2006/metadata/properties" xmlns:ns2="ed5f3adb-d74a-4f34-826c-cfa79a1b5e9d" xmlns:ns3="1771064e-c6ae-44b4-88a5-a935e9ecfce2" targetNamespace="http://schemas.microsoft.com/office/2006/metadata/properties" ma:root="true" ma:fieldsID="c2e0bcf01154a3c8d49cab81914f6a9c" ns2:_="" ns3:_="">
    <xsd:import namespace="ed5f3adb-d74a-4f34-826c-cfa79a1b5e9d"/>
    <xsd:import namespace="1771064e-c6ae-44b4-88a5-a935e9ecfc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f3adb-d74a-4f34-826c-cfa79a1b5e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1064e-c6ae-44b4-88a5-a935e9ecfc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BCEBEC-15B5-49BC-864B-4924BAAB34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EA660A-B007-4C79-8022-F381E11CD8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5f3adb-d74a-4f34-826c-cfa79a1b5e9d"/>
    <ds:schemaRef ds:uri="1771064e-c6ae-44b4-88a5-a935e9ecfc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F81699-3D8B-4E66-BC1A-57B5B30D6CE8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771064e-c6ae-44b4-88a5-a935e9ecfce2"/>
    <ds:schemaRef ds:uri="ed5f3adb-d74a-4f34-826c-cfa79a1b5e9d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1. TCS PowerPoint Template</Template>
  <TotalTime>2683</TotalTime>
  <Words>829</Words>
  <Application>Microsoft Office PowerPoint</Application>
  <PresentationFormat>On-screen Show (16:9)</PresentationFormat>
  <Paragraphs>195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Courier New</vt:lpstr>
      <vt:lpstr>Inter</vt:lpstr>
      <vt:lpstr>JetBrains Mono</vt:lpstr>
      <vt:lpstr>Nunito</vt:lpstr>
      <vt:lpstr>Symbol</vt:lpstr>
      <vt:lpstr>Content Slide_White</vt:lpstr>
      <vt:lpstr>1_Content Slide_White</vt:lpstr>
      <vt:lpstr>Title Slide</vt:lpstr>
      <vt:lpstr>Image Holder Slide</vt:lpstr>
      <vt:lpstr>Cross-Layer Anomaly Detection in an SDN-Enabled Heterogeneous Network</vt:lpstr>
      <vt:lpstr>Problem and Motivation</vt:lpstr>
      <vt:lpstr>System Workflow</vt:lpstr>
      <vt:lpstr>Tools Used &amp; Topology</vt:lpstr>
      <vt:lpstr>Fault Scenarios</vt:lpstr>
      <vt:lpstr>Methodology</vt:lpstr>
      <vt:lpstr>Results</vt:lpstr>
      <vt:lpstr>Results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Achu Jayan</dc:creator>
  <cp:lastModifiedBy>Rishav  Datta</cp:lastModifiedBy>
  <cp:revision>13</cp:revision>
  <dcterms:created xsi:type="dcterms:W3CDTF">2026-09-26T11:21:23Z</dcterms:created>
  <dcterms:modified xsi:type="dcterms:W3CDTF">2026-09-28T08:34:50Z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0x01010081F429409C18204B8E50994481C8BE12</vt:lpwstr>
  </property>
</Properties>
</file>